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3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5_0.xml" ContentType="application/vnd.ms-powerpoint.comments+xml"/>
  <Override PartName="/ppt/notesSlides/notesSlide7.xml" ContentType="application/vnd.openxmlformats-officedocument.presentationml.notesSlide+xml"/>
  <Override PartName="/ppt/comments/modernComment_106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09_0.xml" ContentType="application/vnd.ms-powerpoint.comments+xml"/>
  <Override PartName="/ppt/notesSlides/notesSlide11.xml" ContentType="application/vnd.openxmlformats-officedocument.presentationml.notesSlide+xml"/>
  <Override PartName="/ppt/comments/modernComment_10A_0.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8ED4280-CB1C-B6F7-FDF7-113C8DFD192A}" name="moad ennagi" initials="me" userId="3f06ae544b0af03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241" autoAdjust="0"/>
  </p:normalViewPr>
  <p:slideViewPr>
    <p:cSldViewPr snapToGrid="0" snapToObjects="1">
      <p:cViewPr varScale="1">
        <p:scale>
          <a:sx n="81" d="100"/>
          <a:sy n="81" d="100"/>
        </p:scale>
        <p:origin x="749"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5F8D41A4-7857-43E0-91D6-C05DBC8C7CC2}" authorId="{28ED4280-CB1C-B6F7-FDF7-113C8DFD192A}" created="2026-06-29T19:31:59.231">
    <pc:sldMkLst xmlns:pc="http://schemas.microsoft.com/office/powerpoint/2013/main/command">
      <pc:docMk/>
      <pc:sldMk cId="0" sldId="266"/>
    </pc:sldMkLst>
    <p188:txBody>
      <a:bodyPr/>
      <a:lstStyle/>
      <a:p>
        <a:r>
          <a:rPr lang="fr-MA"/>
          <a:t>Je veux une explication haut niveau ou alors enleve cette slide, car le problème peut etre expliqué en une phrase, il faut focaliser sur le splitting (chunkig) découpage du texte expliquer en gros et expliquer aussi l’embedding et le stockage, non ?</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64A06CDF-2DEC-4705-8C8A-30204A6B4E77}" authorId="{28ED4280-CB1C-B6F7-FDF7-113C8DFD192A}" created="2026-06-29T19:28:43.457">
    <ac:deMkLst xmlns:ac="http://schemas.microsoft.com/office/drawing/2013/main/command">
      <pc:docMk xmlns:pc="http://schemas.microsoft.com/office/powerpoint/2013/main/command"/>
      <pc:sldMk xmlns:pc="http://schemas.microsoft.com/office/powerpoint/2013/main/command" cId="0" sldId="259"/>
      <ac:spMk id="5" creationId="{00000000-0000-0000-0000-000000000000}"/>
    </ac:deMkLst>
    <p188:txBody>
      <a:bodyPr/>
      <a:lstStyle/>
      <a:p>
        <a:r>
          <a:rPr lang="fr-MA"/>
          <a:t>Centrer le problème sur RAG au lieu de parler d’autres problèmes qui sont d’ordre d’organisation (silos individuels …)</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E1F2355E-8F54-41FE-ACA6-44C29373901C}" authorId="{28ED4280-CB1C-B6F7-FDF7-113C8DFD192A}" created="2026-06-29T19:29:29.688">
    <ac:deMkLst xmlns:ac="http://schemas.microsoft.com/office/drawing/2013/main/command">
      <pc:docMk xmlns:pc="http://schemas.microsoft.com/office/powerpoint/2013/main/command"/>
      <pc:sldMk xmlns:pc="http://schemas.microsoft.com/office/powerpoint/2013/main/command" cId="0" sldId="261"/>
      <ac:spMk id="5" creationId="{00000000-0000-0000-0000-000000000000}"/>
    </ac:deMkLst>
    <p188:txBody>
      <a:bodyPr/>
      <a:lstStyle/>
      <a:p>
        <a:r>
          <a:rPr lang="fr-MA"/>
          <a:t>Ici on parle déjà de hyde et de reranking, il faut expliquer pour que le public sache de quoi on parle</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993DECDC-AD1E-47B6-9825-CE8FFFA8AC95}" authorId="{28ED4280-CB1C-B6F7-FDF7-113C8DFD192A}" created="2026-06-29T19:29:50.780">
    <ac:txMkLst xmlns:ac="http://schemas.microsoft.com/office/drawing/2013/main/command">
      <pc:docMk xmlns:pc="http://schemas.microsoft.com/office/powerpoint/2013/main/command"/>
      <pc:sldMk xmlns:pc="http://schemas.microsoft.com/office/powerpoint/2013/main/command" cId="0" sldId="262"/>
      <ac:graphicFrameMk id="5" creationId="{00000000-0000-0000-0000-000000000000}"/>
      <ac:tblMk/>
      <ac:tcMk rowId="10005" colId="20000"/>
      <ac:txMk cp="0" len="16">
        <ac:context len="17" hash="566460017"/>
      </ac:txMk>
    </ac:txMkLst>
    <p188:pos x="1079863" y="2899954"/>
    <p188:txBody>
      <a:bodyPr/>
      <a:lstStyle/>
      <a:p>
        <a:r>
          <a:rPr lang="fr-MA"/>
          <a:t>Il faut donner les articles</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0E39635F-884C-4952-9C16-16F85C8E8FE4}" authorId="{28ED4280-CB1C-B6F7-FDF7-113C8DFD192A}" created="2026-06-29T19:30:45.022">
    <ac:txMkLst xmlns:ac="http://schemas.microsoft.com/office/drawing/2013/main/command">
      <pc:docMk xmlns:pc="http://schemas.microsoft.com/office/powerpoint/2013/main/command"/>
      <pc:sldMk xmlns:pc="http://schemas.microsoft.com/office/powerpoint/2013/main/command" cId="0" sldId="265"/>
      <ac:spMk id="5" creationId="{00000000-0000-0000-0000-000000000000}"/>
      <ac:txMk cp="263" len="195">
        <ac:context len="596" hash="531855711"/>
      </ac:txMk>
    </ac:txMkLst>
    <p188:pos x="9135291" y="1223554"/>
    <p188:txBody>
      <a:bodyPr/>
      <a:lstStyle/>
      <a:p>
        <a:r>
          <a:rPr lang="fr-MA"/>
          <a:t>Expliquer sans donner le code, renvoyer au code source de l’application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368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Madame, Monsieur les membres du jury, je vous présente ma thèse professionnelle : la conception et l'évaluation d'une architecture RAG souveraine pour la capitalisation des connaissances, appliquée au cas du FART. ÉDITEZ les placeholders.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plan de ma présentation suit fidèlement celui du mémoire : introduction et problématique, puis les trois chapitres — revue de la littérature, concepts et méthodes, résultats — et enfin la discussion et la conclusion.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contexte. La dématérialisation a produit une surcharge informationnelle. Le FART, acteur de la mobilité urbaine, détient un patrimoine hétérogène et critique — sa mémoire institutionnelle — composé de normes juridiques, de documents procéduraux et décisionnels, mais fragmenté et souvent sous forme de scans non structurés.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diagnostic : pas d'indexation centralisée, des silos individuels, une recherche sémantique impossible, une dépendance au savoir tacite. Résultat : lenteur et risque de discordance. Trois contraintes bloquantes encadrent la solution : la souveraineté (tout en local), le risque hallucinatoire (fidélité stricte, sources citées), et l'hétérogénéité des documents numérisés (OCR et segmentation).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 croisement des impératifs opérationnels et des verrous techniques, la problématique : comment élaborer une architecture RAG souveraine capable de transcender l'hétérogénéité des documents non structurés pour garantir une capitalisation fiable et une restitution sourcée. Je lis la question lentement.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axes. L'axe technique : quelle configuration de modèles en local, d'où H1 sur l'apport de HyDE et du reranking. L'axe méthodologique : comment évaluer objectivement, d'où H2 sur la suffisance des modèles locaux. Je reviendrai sur la validation de H1 et H2 dans les résultats.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 passe vite sur la théorie — le jury a lu le chapitre. L'essentiel : cinq travaux en fil conducteur. Lewis pose le RAG ; Reimers et Gurevych, les embeddings denses ; Gao, HyDE pour le fossé lexical ; Nogueira et Cho, le reranking ; Es, l'évaluation RAGAS. Chaque brique de mon système découle de l'un d'eux. Une phrase par ligne, je n'insiste pas.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 positionnement tient en trois originalités : la souveraineté totale en local, l'intégration combinée de HyDE et du reranking évaluée empiriquement, et la spécialisation juridique marocaine. L'apport concret : l'assemblage souverain, le splitter dédié et le protocole d'évaluation, que je détaille maintenant.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L'architecture comporte cinq phases séquentielles, communiquant par une base de données centrale, ce qui permet de réitérer une phase sans réimpacter les autres. Chaque composant implémente une interface abstraite, rendant les modèles interchangeables. Les phases 3 et 4 concentrent les contributions.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2.2, ma contribution d'ingénierie. Le BO a une hiérarchie portée par la typographie, non balisée. Mon splitter la normalise d'abord — il corrige les titres mal extraits par Docling via un vocabulaire légal fixe — puis découpe par en-tête et subdivise récursivement à 1500 caractères avec 300 de recouvrement. Chaque chunk reçoit un fil d'Ariane, qui enrichit le vecteur et permet la restitution sourcée.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Concrètement, voici le cœur du splitter — la fonction _classify, que j'ai écrite. Elle décide, pour chaque titre : un article devient du gras ; un mot-clé légal reçoit un niveau fixe via la table de règles à droite ; un titre libre est inféré du contexte. En bas, un exemple : Docling sort des niveaux incohérents (Loi en H1, Article en titre), mon algorithme les réécrit selon la hiérarchie juridique et transforme l'article en gras. C'est ce qui rend les breadcrumbs fiables.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2.3. Pour combler le fossé lexical, HyDE génère une réponse hypothétique et lance deux récupérations en parallèle, fusionnées. Puis le reranking : sur les candidats, le cross-encoder ms-marco score finement chaque paire. C'est le retrieve-then-rerank. Ces deux leviers sont précisément ce que l'étude d'ablation va isoler.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2.4. La souveraineté impose des modèles open-source locaux. L'embedding de référence est bge-m3, multilingue. La génération de référence est qwen2.5:7b, que je comparerai à mistral et gemma au chapitre 3. Le reranker est ms-marco, assez léger pour le CPU. Le stockage est pgvector. À noter : embedding et reranker sont fixés comme références ; seule la génération fait l'objet d'une comparaison empirique.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2.5, le point que j'avais sous-développé. RAGAS fournit quatre métriques orthogonales : deux pour la génération — faithfulness et answer relevancy — deux pour le retrieval — context precision et recall. Le jeu de test est construit en trois étapes : extraction de chunks seed, génération synthétique par gpt-4o-mini — volontairement distinct des modèles évalués pour éviter le biais d'auto-évaluation — puis validation humaine de chaque paire. Protocole conforme à Es et al. (2023).</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2.6. Pour gérer les questions de suivi, je maintiens un historique. Mais il dépasserait vite la fenêtre du modèle. La stratégie : au-delà de 2000 tokens, le LLM résume l'historique ancien et conserve les 4 derniers messages intacts. Simple, sans dépendance externe, suffisant pour des sessions institutionnelles.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3.1. Le jeu de test : 79 paires stratifiées sur 3 domaines et 3 profils, dont un profil hors-corpus qui teste le refus. Le plan d'expérience couvre 12 configurations. Les paramètres non variables sont fixés : embedding bge-m3, reranker ms-marco, top_k 6, seuil 0,5, pgvector. Le juge est gpt-4o-mini, hors production. La configuration de base est la recherche dense simple, sans HyDE ni reranking.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rendre cela concret, voici trois vraies questions du jeu de test, une par profil. Une question factuelle, dont la réponse tient dans un article — ici l'article 29 sur un montant budgétaire. Une question de synthèse, qui demande de combiner plusieurs articles — la fusion d'OPCVM, article 78. Et surtout une question hors-corpus : le système répond correctement qu'il n'a pas l'information, au lieu d'inventer. Ce profil teste explicitement l'anti-hallucination, exigence centrale en contexte juridique.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3.2, l'étude d'ablation. Le reranking seul (3.2.1) apporte un gain systématique de précision, cinq à huit points, avec un léger recul de pertinence car le contexte est plus focalisé. HyDE seul (3.2.2), contre toute attente, dégrade la précision d'environ huit points : le modèle généraliste paraphrase en français courant au lieu de reproduire le registre normatif, ce qui éloigne le vecteur du corpus. C'est l'effet contre-intuitif central de mes résultats.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3.2.3, la synthèse. Le tableau et la figure montrent les 12 configurations. En score brut, HyDE plus reranking est marginalement le plus haut pour qwen, à 0,794. Mais HyDE est instable — il dégrade la précision — et coûte une seconde passe d'embedding, soit trente à cinquante pour cent de latence en plus. Je retiens donc la configuration sans HyDE avec reranking : un gain systématique, un coût maîtrisé, une meilleure précision. Si le jury demande pourquoi pas hyde+rerank, c'est exactement cette réponse. H1 est validée partiellement : le reranking confirme l'hypothèse, HyDE l'infirme.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3.3. À configuration fixée, je compare les trois générateurs. Mistral a le meilleur score moyen et la meilleure pertinence. Qwen a la meilleure fidélité. Gemma a une bonne précision de retrieval mais une fidélité et une pertinence plus faibles. La précision du contexte est stable entre modèles, car le retrieval est commun.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3.3.3. L'interprétation clé : une tension structurelle entre fidélité et pertinence, qu'aucun modèle ne résout. Qwen est conservateur et fidèle ; mistral est assertif et pertinent. En droit, l'écart de fidélité compte. D'où un choix par profil de risque : qwen pour les usages à effet juridique direct, mistral pour l'exploration. Et globalement, des modèles locaux 7-9B atteignent 0,75 à 0,79 : H2 est validée, sous arbitrage.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discussion valide les hypothèses. H1 partiellement : le reranking confirme, HyDE infirme. H2 validée, sous arbitrage. Et surtout, je réponds à la problématique : oui, une architecture RAG souveraine permet une capitalisation fiable et une restitution sourcée, avec une fidélité maîtrisée par le choix de modèle et une exécution entièrement locale.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implications pour le FART. La souveraineté est garantie : aucun appel cloud en production, une infrastructure maîtrisable. Le modèle de référence se choisit par profil de risque. La transposition du BO au corpus interne est facilitée par l'équivalence structurelle : les composants principaux sont transposables, mais deux écarts demandent une adaptation — le splitter et le jeu de test. J'estime cet effort à quatre à six mois ; restez prudent sur ce chiffrage si on vous interroge.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conclusion : les contributions sont le pipeline souverain complet, le splitter juridique, l'étude d'ablation et le protocole d'évaluation. Les limites, assumées : monolingue, jeu de test borné, modèles 7-9B, juge externe. Les perspectives : fine-tuning juridique marocain, extension bilingue facilitée par bge-m3, déploiement effectif au FART, et réévaluation périodique. Je vous remercie et reste à votre disposition.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0.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09_0.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A_0.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914400" y="1097280"/>
            <a:ext cx="10360152" cy="0"/>
          </a:xfrm>
          <a:prstGeom prst="bentConnector3">
            <a:avLst/>
          </a:prstGeom>
          <a:ln w="25400">
            <a:solidFill>
              <a:srgbClr val="1B2A4A"/>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914400" y="1554480"/>
            <a:ext cx="10360152" cy="2377440"/>
          </a:xfrm>
          <a:prstGeom prst="rect">
            <a:avLst/>
          </a:prstGeom>
          <a:noFill/>
        </p:spPr>
        <p:txBody>
          <a:bodyPr wrap="square" anchor="ctr">
            <a:spAutoFit/>
          </a:bodyPr>
          <a:lstStyle/>
          <a:p>
            <a:pPr algn="ctr"/>
            <a:r>
              <a:rPr sz="2600" b="1" i="0">
                <a:solidFill>
                  <a:srgbClr val="1B2A4A"/>
                </a:solidFill>
                <a:latin typeface="Georgia"/>
              </a:rPr>
              <a:t>Conception et évaluation d'une architecture RAG souveraine pour la capitalisation des connaissances et l'optimisation de l'accès documentaire</a:t>
            </a:r>
          </a:p>
          <a:p>
            <a:pPr algn="ctr">
              <a:spcBef>
                <a:spcPts val="1000"/>
              </a:spcBef>
            </a:pPr>
            <a:r>
              <a:rPr sz="1600" b="0" i="1">
                <a:solidFill>
                  <a:srgbClr val="5D6D7E"/>
                </a:solidFill>
                <a:latin typeface="Georgia"/>
              </a:rPr>
              <a:t>Cas du Fonds de l'Accompagnement des Réformes du Transport Routier (FART)</a:t>
            </a:r>
          </a:p>
        </p:txBody>
      </p:sp>
      <p:cxnSp>
        <p:nvCxnSpPr>
          <p:cNvPr id="4" name="Connector 3"/>
          <p:cNvCxnSpPr/>
          <p:nvPr/>
        </p:nvCxnSpPr>
        <p:spPr>
          <a:xfrm>
            <a:off x="914400" y="4114800"/>
            <a:ext cx="10360152" cy="0"/>
          </a:xfrm>
          <a:prstGeom prst="bentConnector3">
            <a:avLst/>
          </a:prstGeom>
          <a:ln w="25400">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4389120"/>
            <a:ext cx="10360152" cy="1828800"/>
          </a:xfrm>
          <a:prstGeom prst="rect">
            <a:avLst/>
          </a:prstGeom>
          <a:noFill/>
        </p:spPr>
        <p:txBody>
          <a:bodyPr wrap="square" anchor="ctr">
            <a:spAutoFit/>
          </a:bodyPr>
          <a:lstStyle/>
          <a:p>
            <a:pPr algn="ctr">
              <a:spcAft>
                <a:spcPts val="400"/>
              </a:spcAft>
            </a:pPr>
            <a:r>
              <a:rPr sz="1500" b="1" i="0">
                <a:solidFill>
                  <a:srgbClr val="1B2A4A"/>
                </a:solidFill>
                <a:latin typeface="Calibri"/>
              </a:rPr>
              <a:t>Thèse Professionnelle — [Programme / Master]</a:t>
            </a:r>
          </a:p>
          <a:p>
            <a:pPr algn="ctr">
              <a:spcAft>
                <a:spcPts val="400"/>
              </a:spcAft>
            </a:pPr>
            <a:r>
              <a:rPr sz="1400" b="0" i="0">
                <a:solidFill>
                  <a:srgbClr val="5D6D7E"/>
                </a:solidFill>
                <a:latin typeface="Calibri"/>
              </a:rPr>
              <a:t>Présentée par : [Votre Nom]</a:t>
            </a:r>
          </a:p>
          <a:p>
            <a:pPr algn="ctr">
              <a:spcAft>
                <a:spcPts val="400"/>
              </a:spcAft>
            </a:pPr>
            <a:r>
              <a:rPr sz="1300" b="0" i="0">
                <a:solidFill>
                  <a:srgbClr val="5D6D7E"/>
                </a:solidFill>
                <a:latin typeface="Calibri"/>
              </a:rPr>
              <a:t>Directeur de thèse : [Nom] · Jury : [Membres]</a:t>
            </a:r>
          </a:p>
          <a:p>
            <a:pPr algn="ctr">
              <a:spcAft>
                <a:spcPts val="400"/>
              </a:spcAft>
            </a:pPr>
            <a:r>
              <a:rPr sz="1300" b="0" i="0">
                <a:solidFill>
                  <a:srgbClr val="5D6D7E"/>
                </a:solidFill>
                <a:latin typeface="Calibri"/>
              </a:rPr>
              <a:t>[Établissement] — Juin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SOUTENANCE</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Plan de la présentation</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37360"/>
            <a:ext cx="10972800" cy="4663440"/>
          </a:xfrm>
          <a:prstGeom prst="rect">
            <a:avLst/>
          </a:prstGeom>
          <a:noFill/>
        </p:spPr>
        <p:txBody>
          <a:bodyPr wrap="square" anchor="t">
            <a:spAutoFit/>
          </a:bodyPr>
          <a:lstStyle/>
          <a:p>
            <a:pPr>
              <a:spcAft>
                <a:spcPts val="600"/>
              </a:spcAft>
            </a:pPr>
            <a:r>
              <a:rPr sz="1800" b="0" i="0">
                <a:solidFill>
                  <a:srgbClr val="2B2B2B"/>
                </a:solidFill>
                <a:latin typeface="Calibri"/>
              </a:rPr>
              <a:t>•  Introduction — contexte, problème et problématique du FART</a:t>
            </a:r>
          </a:p>
          <a:p>
            <a:pPr>
              <a:spcAft>
                <a:spcPts val="600"/>
              </a:spcAft>
            </a:pPr>
            <a:r>
              <a:rPr sz="1800" b="0" i="0">
                <a:solidFill>
                  <a:srgbClr val="2B2B2B"/>
                </a:solidFill>
                <a:latin typeface="Calibri"/>
              </a:rPr>
              <a:t>•  Questions de recherche et hypothèses</a:t>
            </a:r>
          </a:p>
          <a:p>
            <a:pPr>
              <a:spcAft>
                <a:spcPts val="600"/>
              </a:spcAft>
            </a:pPr>
            <a:r>
              <a:rPr sz="1800" b="0" i="0">
                <a:solidFill>
                  <a:srgbClr val="2B2B2B"/>
                </a:solidFill>
                <a:latin typeface="Calibri"/>
              </a:rPr>
              <a:t>•  Chapitre 1 — Revue de la littérature (1.1 à 1.5)</a:t>
            </a:r>
          </a:p>
          <a:p>
            <a:pPr>
              <a:spcAft>
                <a:spcPts val="600"/>
              </a:spcAft>
            </a:pPr>
            <a:r>
              <a:rPr sz="1800" b="0" i="0">
                <a:solidFill>
                  <a:srgbClr val="2B2B2B"/>
                </a:solidFill>
                <a:latin typeface="Calibri"/>
              </a:rPr>
              <a:t>•  Chapitre 2 — Concepts, méthodes et outils mobilisés (2.1 à 2.6)</a:t>
            </a:r>
          </a:p>
          <a:p>
            <a:pPr>
              <a:spcAft>
                <a:spcPts val="600"/>
              </a:spcAft>
            </a:pPr>
            <a:r>
              <a:rPr sz="1800" b="0" i="0">
                <a:solidFill>
                  <a:srgbClr val="2B2B2B"/>
                </a:solidFill>
                <a:latin typeface="Calibri"/>
              </a:rPr>
              <a:t>•  Chapitre 3 — Présentation et discussion des résultats (3.1 à 3.3)</a:t>
            </a:r>
          </a:p>
          <a:p>
            <a:pPr>
              <a:spcAft>
                <a:spcPts val="600"/>
              </a:spcAft>
            </a:pPr>
            <a:r>
              <a:rPr sz="1800" b="0" i="0">
                <a:solidFill>
                  <a:srgbClr val="2B2B2B"/>
                </a:solidFill>
                <a:latin typeface="Calibri"/>
              </a:rPr>
              <a:t>•  Discussion, transposition au FART et conclusion générale</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2 / 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INTRODUCTION</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Contexte : la mémoire institutionnelle du FART</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508760"/>
            <a:ext cx="10972800" cy="4663440"/>
          </a:xfrm>
          <a:prstGeom prst="rect">
            <a:avLst/>
          </a:prstGeom>
          <a:noFill/>
        </p:spPr>
        <p:txBody>
          <a:bodyPr wrap="square" anchor="t">
            <a:spAutoFit/>
          </a:bodyPr>
          <a:lstStyle/>
          <a:p>
            <a:pPr>
              <a:spcAft>
                <a:spcPts val="600"/>
              </a:spcAft>
            </a:pPr>
            <a:r>
              <a:rPr sz="1600" b="0" i="0">
                <a:solidFill>
                  <a:srgbClr val="2B2B2B"/>
                </a:solidFill>
                <a:latin typeface="Calibri"/>
              </a:rPr>
              <a:t>•  La transformation numérique a sécurisé la conservation des données mais engendré une surcharge informationnelle.</a:t>
            </a:r>
          </a:p>
          <a:p>
            <a:pPr>
              <a:spcAft>
                <a:spcPts val="600"/>
              </a:spcAft>
            </a:pPr>
            <a:r>
              <a:rPr sz="1600" b="0" i="0">
                <a:solidFill>
                  <a:srgbClr val="2B2B2B"/>
                </a:solidFill>
                <a:latin typeface="Calibri"/>
              </a:rPr>
              <a:t>•  Le FART administre un patrimoine documentaire hétérogène et critique — sa mémoire institutionnelle :</a:t>
            </a:r>
          </a:p>
          <a:p>
            <a:pPr lvl="1">
              <a:spcAft>
                <a:spcPts val="600"/>
              </a:spcAft>
            </a:pPr>
            <a:r>
              <a:rPr sz="1500" b="0" i="0">
                <a:solidFill>
                  <a:srgbClr val="5D6D7E"/>
                </a:solidFill>
                <a:latin typeface="Calibri"/>
              </a:rPr>
              <a:t>–  normes juridiques (lois de finances, décrets, arrêtés) ;</a:t>
            </a:r>
          </a:p>
          <a:p>
            <a:pPr lvl="1">
              <a:spcAft>
                <a:spcPts val="600"/>
              </a:spcAft>
            </a:pPr>
            <a:r>
              <a:rPr sz="1500" b="0" i="0">
                <a:solidFill>
                  <a:srgbClr val="5D6D7E"/>
                </a:solidFill>
                <a:latin typeface="Calibri"/>
              </a:rPr>
              <a:t>–  documents procéduraux (manuels, guides d'éligibilité) ;</a:t>
            </a:r>
          </a:p>
          <a:p>
            <a:pPr lvl="1">
              <a:spcAft>
                <a:spcPts val="600"/>
              </a:spcAft>
            </a:pPr>
            <a:r>
              <a:rPr sz="1500" b="0" i="0">
                <a:solidFill>
                  <a:srgbClr val="5D6D7E"/>
                </a:solidFill>
                <a:latin typeface="Calibri"/>
              </a:rPr>
              <a:t>–  documents décisionnels (procès-verbaux, notes de synthèse).</a:t>
            </a:r>
          </a:p>
          <a:p>
            <a:pPr>
              <a:spcAft>
                <a:spcPts val="600"/>
              </a:spcAft>
            </a:pPr>
            <a:r>
              <a:rPr sz="1600" b="0" i="0">
                <a:solidFill>
                  <a:srgbClr val="2B2B2B"/>
                </a:solidFill>
                <a:latin typeface="Calibri"/>
              </a:rPr>
              <a:t>•  Patrimoine fragmenté : arborescences cloisonnées, PDF non structurés, scans.</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3 / 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INTRODUCTION</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Problème central et contraintes</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463040"/>
            <a:ext cx="10972800" cy="2194560"/>
          </a:xfrm>
          <a:prstGeom prst="rect">
            <a:avLst/>
          </a:prstGeom>
          <a:noFill/>
        </p:spPr>
        <p:txBody>
          <a:bodyPr wrap="square" anchor="t">
            <a:spAutoFit/>
          </a:bodyPr>
          <a:lstStyle/>
          <a:p>
            <a:pPr>
              <a:spcAft>
                <a:spcPts val="600"/>
              </a:spcAft>
            </a:pPr>
            <a:r>
              <a:rPr sz="1600" b="0" i="0" dirty="0">
                <a:solidFill>
                  <a:srgbClr val="2B2B2B"/>
                </a:solidFill>
                <a:latin typeface="Calibri"/>
              </a:rPr>
              <a:t>•  </a:t>
            </a:r>
            <a:r>
              <a:rPr sz="1600" b="0" i="0" dirty="0" err="1">
                <a:solidFill>
                  <a:srgbClr val="2B2B2B"/>
                </a:solidFill>
                <a:latin typeface="Calibri"/>
              </a:rPr>
              <a:t>Aucun</a:t>
            </a:r>
            <a:r>
              <a:rPr sz="1600" b="0" i="0" dirty="0">
                <a:solidFill>
                  <a:srgbClr val="2B2B2B"/>
                </a:solidFill>
                <a:latin typeface="Calibri"/>
              </a:rPr>
              <a:t> </a:t>
            </a:r>
            <a:r>
              <a:rPr sz="1600" b="0" i="0" dirty="0" err="1">
                <a:solidFill>
                  <a:srgbClr val="2B2B2B"/>
                </a:solidFill>
                <a:latin typeface="Calibri"/>
              </a:rPr>
              <a:t>moteur</a:t>
            </a:r>
            <a:r>
              <a:rPr sz="1600" b="0" i="0" dirty="0">
                <a:solidFill>
                  <a:srgbClr val="2B2B2B"/>
                </a:solidFill>
                <a:latin typeface="Calibri"/>
              </a:rPr>
              <a:t> </a:t>
            </a:r>
            <a:r>
              <a:rPr sz="1600" b="0" i="0" dirty="0" err="1">
                <a:solidFill>
                  <a:srgbClr val="2B2B2B"/>
                </a:solidFill>
                <a:latin typeface="Calibri"/>
              </a:rPr>
              <a:t>d'indexation</a:t>
            </a:r>
            <a:r>
              <a:rPr sz="1600" b="0" i="0" dirty="0">
                <a:solidFill>
                  <a:srgbClr val="2B2B2B"/>
                </a:solidFill>
                <a:latin typeface="Calibri"/>
              </a:rPr>
              <a:t> </a:t>
            </a:r>
            <a:r>
              <a:rPr sz="1600" b="0" i="0" dirty="0" err="1">
                <a:solidFill>
                  <a:srgbClr val="2B2B2B"/>
                </a:solidFill>
                <a:latin typeface="Calibri"/>
              </a:rPr>
              <a:t>centralisé</a:t>
            </a:r>
            <a:r>
              <a:rPr sz="1600" b="0" i="0" dirty="0">
                <a:solidFill>
                  <a:srgbClr val="2B2B2B"/>
                </a:solidFill>
                <a:latin typeface="Calibri"/>
              </a:rPr>
              <a:t> : exploration </a:t>
            </a:r>
            <a:r>
              <a:rPr sz="1600" b="0" i="0" dirty="0" err="1">
                <a:solidFill>
                  <a:srgbClr val="2B2B2B"/>
                </a:solidFill>
                <a:latin typeface="Calibri"/>
              </a:rPr>
              <a:t>manuelle</a:t>
            </a:r>
            <a:r>
              <a:rPr sz="1600" b="0" i="0" dirty="0">
                <a:solidFill>
                  <a:srgbClr val="2B2B2B"/>
                </a:solidFill>
                <a:latin typeface="Calibri"/>
              </a:rPr>
              <a:t> </a:t>
            </a:r>
            <a:r>
              <a:rPr sz="1600" b="0" i="0" dirty="0" err="1">
                <a:solidFill>
                  <a:srgbClr val="2B2B2B"/>
                </a:solidFill>
                <a:latin typeface="Calibri"/>
              </a:rPr>
              <a:t>d'arborescences</a:t>
            </a:r>
            <a:r>
              <a:rPr sz="1600" b="0" i="0" dirty="0">
                <a:solidFill>
                  <a:srgbClr val="2B2B2B"/>
                </a:solidFill>
                <a:latin typeface="Calibri"/>
              </a:rPr>
              <a:t>.</a:t>
            </a:r>
          </a:p>
          <a:p>
            <a:pPr>
              <a:spcAft>
                <a:spcPts val="600"/>
              </a:spcAft>
            </a:pPr>
            <a:r>
              <a:rPr sz="1600" b="0" i="0" dirty="0">
                <a:solidFill>
                  <a:srgbClr val="2B2B2B"/>
                </a:solidFill>
                <a:latin typeface="Calibri"/>
              </a:rPr>
              <a:t>•  </a:t>
            </a:r>
            <a:r>
              <a:rPr sz="1600" b="0" i="0" dirty="0" err="1">
                <a:solidFill>
                  <a:srgbClr val="2B2B2B"/>
                </a:solidFill>
                <a:latin typeface="Calibri"/>
              </a:rPr>
              <a:t>Archivage</a:t>
            </a:r>
            <a:r>
              <a:rPr sz="1600" b="0" i="0" dirty="0">
                <a:solidFill>
                  <a:srgbClr val="2B2B2B"/>
                </a:solidFill>
                <a:latin typeface="Calibri"/>
              </a:rPr>
              <a:t> </a:t>
            </a:r>
            <a:r>
              <a:rPr sz="1600" b="0" i="0" dirty="0" err="1">
                <a:solidFill>
                  <a:srgbClr val="2B2B2B"/>
                </a:solidFill>
                <a:latin typeface="Calibri"/>
              </a:rPr>
              <a:t>individuel</a:t>
            </a:r>
            <a:r>
              <a:rPr sz="1600" b="0" i="0" dirty="0">
                <a:solidFill>
                  <a:srgbClr val="2B2B2B"/>
                </a:solidFill>
                <a:latin typeface="Calibri"/>
              </a:rPr>
              <a:t> </a:t>
            </a:r>
            <a:r>
              <a:rPr sz="1600" b="0" i="0" dirty="0" err="1">
                <a:solidFill>
                  <a:srgbClr val="2B2B2B"/>
                </a:solidFill>
                <a:latin typeface="Calibri"/>
              </a:rPr>
              <a:t>en</a:t>
            </a:r>
            <a:r>
              <a:rPr sz="1600" b="0" i="0" dirty="0">
                <a:solidFill>
                  <a:srgbClr val="2B2B2B"/>
                </a:solidFill>
                <a:latin typeface="Calibri"/>
              </a:rPr>
              <a:t> silos → </a:t>
            </a:r>
            <a:r>
              <a:rPr sz="1600" b="0" i="0" dirty="0" err="1">
                <a:solidFill>
                  <a:srgbClr val="2B2B2B"/>
                </a:solidFill>
                <a:latin typeface="Calibri"/>
              </a:rPr>
              <a:t>patrimoine</a:t>
            </a:r>
            <a:r>
              <a:rPr sz="1600" b="0" i="0" dirty="0">
                <a:solidFill>
                  <a:srgbClr val="2B2B2B"/>
                </a:solidFill>
                <a:latin typeface="Calibri"/>
              </a:rPr>
              <a:t> invisible ; recherche </a:t>
            </a:r>
            <a:r>
              <a:rPr sz="1600" b="0" i="0" dirty="0" err="1">
                <a:solidFill>
                  <a:srgbClr val="2B2B2B"/>
                </a:solidFill>
                <a:latin typeface="Calibri"/>
              </a:rPr>
              <a:t>sémantique</a:t>
            </a:r>
            <a:r>
              <a:rPr sz="1600" b="0" i="0" dirty="0">
                <a:solidFill>
                  <a:srgbClr val="2B2B2B"/>
                </a:solidFill>
                <a:latin typeface="Calibri"/>
              </a:rPr>
              <a:t> impossible.</a:t>
            </a:r>
          </a:p>
          <a:p>
            <a:pPr>
              <a:spcAft>
                <a:spcPts val="600"/>
              </a:spcAft>
            </a:pPr>
            <a:r>
              <a:rPr sz="1600" b="0" i="0" dirty="0">
                <a:solidFill>
                  <a:srgbClr val="2B2B2B"/>
                </a:solidFill>
                <a:latin typeface="Calibri"/>
              </a:rPr>
              <a:t>•  </a:t>
            </a:r>
            <a:r>
              <a:rPr sz="1600" b="0" i="0" dirty="0" err="1">
                <a:solidFill>
                  <a:srgbClr val="2B2B2B"/>
                </a:solidFill>
                <a:latin typeface="Calibri"/>
              </a:rPr>
              <a:t>Dépendance</a:t>
            </a:r>
            <a:r>
              <a:rPr sz="1600" b="0" i="0" dirty="0">
                <a:solidFill>
                  <a:srgbClr val="2B2B2B"/>
                </a:solidFill>
                <a:latin typeface="Calibri"/>
              </a:rPr>
              <a:t> au savoir </a:t>
            </a:r>
            <a:r>
              <a:rPr sz="1600" b="0" i="0" dirty="0" err="1">
                <a:solidFill>
                  <a:srgbClr val="2B2B2B"/>
                </a:solidFill>
                <a:latin typeface="Calibri"/>
              </a:rPr>
              <a:t>tacite</a:t>
            </a:r>
            <a:r>
              <a:rPr sz="1600" b="0" i="0" dirty="0">
                <a:solidFill>
                  <a:srgbClr val="2B2B2B"/>
                </a:solidFill>
                <a:latin typeface="Calibri"/>
              </a:rPr>
              <a:t> : la </a:t>
            </a:r>
            <a:r>
              <a:rPr sz="1600" b="0" i="0" dirty="0" err="1">
                <a:solidFill>
                  <a:srgbClr val="2B2B2B"/>
                </a:solidFill>
                <a:latin typeface="Calibri"/>
              </a:rPr>
              <a:t>mobilité</a:t>
            </a:r>
            <a:r>
              <a:rPr sz="1600" b="0" i="0" dirty="0">
                <a:solidFill>
                  <a:srgbClr val="2B2B2B"/>
                </a:solidFill>
                <a:latin typeface="Calibri"/>
              </a:rPr>
              <a:t> du personnel </a:t>
            </a:r>
            <a:r>
              <a:rPr sz="1600" b="0" i="0" dirty="0" err="1">
                <a:solidFill>
                  <a:srgbClr val="2B2B2B"/>
                </a:solidFill>
                <a:latin typeface="Calibri"/>
              </a:rPr>
              <a:t>érode</a:t>
            </a:r>
            <a:r>
              <a:rPr sz="1600" b="0" i="0" dirty="0">
                <a:solidFill>
                  <a:srgbClr val="2B2B2B"/>
                </a:solidFill>
                <a:latin typeface="Calibri"/>
              </a:rPr>
              <a:t> la </a:t>
            </a:r>
            <a:r>
              <a:rPr sz="1600" b="0" i="0" dirty="0" err="1">
                <a:solidFill>
                  <a:srgbClr val="2B2B2B"/>
                </a:solidFill>
                <a:latin typeface="Calibri"/>
              </a:rPr>
              <a:t>mémoire</a:t>
            </a:r>
            <a:r>
              <a:rPr sz="1600" b="0" i="0" dirty="0">
                <a:solidFill>
                  <a:srgbClr val="2B2B2B"/>
                </a:solidFill>
                <a:latin typeface="Calibri"/>
              </a:rPr>
              <a:t> collective.</a:t>
            </a:r>
          </a:p>
          <a:p>
            <a:pPr>
              <a:spcAft>
                <a:spcPts val="600"/>
              </a:spcAft>
            </a:pPr>
            <a:r>
              <a:rPr sz="1600" b="0" i="0" dirty="0">
                <a:solidFill>
                  <a:srgbClr val="2B2B2B"/>
                </a:solidFill>
                <a:latin typeface="Calibri"/>
              </a:rPr>
              <a:t>•  </a:t>
            </a:r>
            <a:r>
              <a:rPr sz="1600" b="0" i="0" dirty="0" err="1">
                <a:solidFill>
                  <a:srgbClr val="2B2B2B"/>
                </a:solidFill>
                <a:latin typeface="Calibri"/>
              </a:rPr>
              <a:t>Conséquences</a:t>
            </a:r>
            <a:r>
              <a:rPr sz="1600" b="0" i="0" dirty="0">
                <a:solidFill>
                  <a:srgbClr val="2B2B2B"/>
                </a:solidFill>
                <a:latin typeface="Calibri"/>
              </a:rPr>
              <a:t> : </a:t>
            </a:r>
            <a:r>
              <a:rPr sz="1600" b="0" i="0" dirty="0" err="1">
                <a:solidFill>
                  <a:srgbClr val="2B2B2B"/>
                </a:solidFill>
                <a:latin typeface="Calibri"/>
              </a:rPr>
              <a:t>latence</a:t>
            </a:r>
            <a:r>
              <a:rPr sz="1600" b="0" i="0" dirty="0">
                <a:solidFill>
                  <a:srgbClr val="2B2B2B"/>
                </a:solidFill>
                <a:latin typeface="Calibri"/>
              </a:rPr>
              <a:t> de </a:t>
            </a:r>
            <a:r>
              <a:rPr sz="1600" b="0" i="0" dirty="0" err="1">
                <a:solidFill>
                  <a:srgbClr val="2B2B2B"/>
                </a:solidFill>
                <a:latin typeface="Calibri"/>
              </a:rPr>
              <a:t>traitement</a:t>
            </a:r>
            <a:r>
              <a:rPr sz="1600" b="0" i="0" dirty="0">
                <a:solidFill>
                  <a:srgbClr val="2B2B2B"/>
                </a:solidFill>
                <a:latin typeface="Calibri"/>
              </a:rPr>
              <a:t>, </a:t>
            </a:r>
            <a:r>
              <a:rPr sz="1600" b="0" i="0" dirty="0" err="1">
                <a:solidFill>
                  <a:srgbClr val="2B2B2B"/>
                </a:solidFill>
                <a:latin typeface="Calibri"/>
              </a:rPr>
              <a:t>risque</a:t>
            </a:r>
            <a:r>
              <a:rPr sz="1600" b="0" i="0" dirty="0">
                <a:solidFill>
                  <a:srgbClr val="2B2B2B"/>
                </a:solidFill>
                <a:latin typeface="Calibri"/>
              </a:rPr>
              <a:t> de discordance </a:t>
            </a:r>
            <a:r>
              <a:rPr sz="1600" b="0" i="0" dirty="0" err="1">
                <a:solidFill>
                  <a:srgbClr val="2B2B2B"/>
                </a:solidFill>
                <a:latin typeface="Calibri"/>
              </a:rPr>
              <a:t>réglementaire</a:t>
            </a:r>
            <a:r>
              <a:rPr sz="1600" b="0" i="0" dirty="0">
                <a:solidFill>
                  <a:srgbClr val="2B2B2B"/>
                </a:solidFill>
                <a:latin typeface="Calibri"/>
              </a:rPr>
              <a:t>.</a:t>
            </a:r>
          </a:p>
        </p:txBody>
      </p:sp>
      <p:sp>
        <p:nvSpPr>
          <p:cNvPr id="6" name="Rounded Rectangle 5"/>
          <p:cNvSpPr/>
          <p:nvPr/>
        </p:nvSpPr>
        <p:spPr>
          <a:xfrm>
            <a:off x="640080" y="3931920"/>
            <a:ext cx="3566160" cy="19202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ctr"/>
            <a:r>
              <a:rPr sz="1500" b="1" i="0">
                <a:solidFill>
                  <a:srgbClr val="FFFFFF"/>
                </a:solidFill>
                <a:latin typeface="Georgia"/>
              </a:rPr>
              <a:t>Souveraineté</a:t>
            </a:r>
          </a:p>
          <a:p>
            <a:pPr algn="ctr">
              <a:spcBef>
                <a:spcPts val="800"/>
              </a:spcBef>
            </a:pPr>
            <a:r>
              <a:rPr sz="1200" b="0" i="0">
                <a:solidFill>
                  <a:srgbClr val="FFFFFF"/>
                </a:solidFill>
                <a:latin typeface="Calibri"/>
              </a:rPr>
              <a:t>Pas de SaaS : architecture strictement locale (On-Premise).</a:t>
            </a:r>
          </a:p>
        </p:txBody>
      </p:sp>
      <p:sp>
        <p:nvSpPr>
          <p:cNvPr id="7" name="Rounded Rectangle 6"/>
          <p:cNvSpPr/>
          <p:nvPr/>
        </p:nvSpPr>
        <p:spPr>
          <a:xfrm>
            <a:off x="4389120" y="3931920"/>
            <a:ext cx="3566160" cy="192024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ctr"/>
            <a:r>
              <a:rPr sz="1500" b="1" i="0">
                <a:solidFill>
                  <a:srgbClr val="FFFFFF"/>
                </a:solidFill>
                <a:latin typeface="Georgia"/>
              </a:rPr>
              <a:t>Risque hallucinatoire</a:t>
            </a:r>
          </a:p>
          <a:p>
            <a:pPr algn="ctr">
              <a:spcBef>
                <a:spcPts val="800"/>
              </a:spcBef>
            </a:pPr>
            <a:r>
              <a:rPr sz="1200" b="0" i="0">
                <a:solidFill>
                  <a:srgbClr val="FFFFFF"/>
                </a:solidFill>
                <a:latin typeface="Calibri"/>
              </a:rPr>
              <a:t>Fidélité documentaire stricte, restitution sourcée.</a:t>
            </a:r>
          </a:p>
        </p:txBody>
      </p:sp>
      <p:sp>
        <p:nvSpPr>
          <p:cNvPr id="8" name="Rounded Rectangle 7"/>
          <p:cNvSpPr/>
          <p:nvPr/>
        </p:nvSpPr>
        <p:spPr>
          <a:xfrm>
            <a:off x="8138160" y="3931920"/>
            <a:ext cx="3566160" cy="1920240"/>
          </a:xfrm>
          <a:prstGeom prst="round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ctr"/>
            <a:r>
              <a:rPr sz="1500" b="1" i="0">
                <a:solidFill>
                  <a:srgbClr val="FFFFFF"/>
                </a:solidFill>
                <a:latin typeface="Georgia"/>
              </a:rPr>
              <a:t>Hétérogénéité</a:t>
            </a:r>
          </a:p>
          <a:p>
            <a:pPr algn="ctr">
              <a:spcBef>
                <a:spcPts val="800"/>
              </a:spcBef>
            </a:pPr>
            <a:r>
              <a:rPr sz="1200" b="0" i="0">
                <a:solidFill>
                  <a:srgbClr val="FFFFFF"/>
                </a:solidFill>
                <a:latin typeface="Calibri"/>
              </a:rPr>
              <a:t>Documents numérisés : chaîne OCR et segmentation.</a:t>
            </a:r>
          </a:p>
        </p:txBody>
      </p:sp>
      <p:cxnSp>
        <p:nvCxnSpPr>
          <p:cNvPr id="9" name="Connector 8"/>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11" name="TextBox 10"/>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4 / 24</a:t>
            </a:r>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PROBLÉMATIQUE</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Question de recherche principale</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914400" y="2011680"/>
            <a:ext cx="10360152" cy="2377440"/>
          </a:xfrm>
          <a:prstGeom prst="roundRect">
            <a:avLst/>
          </a:prstGeom>
          <a:solidFill>
            <a:srgbClr val="F2F4F7"/>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wrap="square" lIns="457200" rIns="457200" rtlCol="0" anchor="ctr"/>
          <a:lstStyle/>
          <a:p>
            <a:pPr algn="ctr"/>
            <a:r>
              <a:rPr sz="2000" b="0" i="1">
                <a:solidFill>
                  <a:srgbClr val="1B2A4A"/>
                </a:solidFill>
                <a:latin typeface="Georgia"/>
              </a:rPr>
              <a:t>« Comment élaborer une architecture d'Intelligence Artificielle de type RAG souveraine, capable de transcender l'hétérogénéité des documents administratifs non structurés pour garantir une capitalisation fiable et une restitution sourcée de la mémoire institutionnelle ? »</a:t>
            </a:r>
          </a:p>
        </p:txBody>
      </p:sp>
      <p:sp>
        <p:nvSpPr>
          <p:cNvPr id="6" name="TextBox 5"/>
          <p:cNvSpPr txBox="1"/>
          <p:nvPr/>
        </p:nvSpPr>
        <p:spPr>
          <a:xfrm>
            <a:off x="914400" y="4754880"/>
            <a:ext cx="10360152" cy="914400"/>
          </a:xfrm>
          <a:prstGeom prst="rect">
            <a:avLst/>
          </a:prstGeom>
          <a:noFill/>
        </p:spPr>
        <p:txBody>
          <a:bodyPr wrap="square" anchor="t">
            <a:spAutoFit/>
          </a:bodyPr>
          <a:lstStyle/>
          <a:p>
            <a:pPr algn="ctr"/>
            <a:r>
              <a:rPr sz="1400" b="0" i="1">
                <a:solidFill>
                  <a:srgbClr val="5D6D7E"/>
                </a:solidFill>
                <a:latin typeface="Calibri"/>
              </a:rPr>
              <a:t>Concilier innovation cognitive et gouvernance des données.</a:t>
            </a:r>
          </a:p>
        </p:txBody>
      </p:sp>
      <p:cxnSp>
        <p:nvCxnSpPr>
          <p:cNvPr id="7" name="Connector 6"/>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9" name="TextBox 8"/>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5 / 24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PROBLÉMATIQUE</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Axes de recherche et hypothèses</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508760"/>
            <a:ext cx="10972800" cy="4663440"/>
          </a:xfrm>
          <a:prstGeom prst="rect">
            <a:avLst/>
          </a:prstGeom>
          <a:noFill/>
        </p:spPr>
        <p:txBody>
          <a:bodyPr wrap="square" anchor="t">
            <a:spAutoFit/>
          </a:bodyPr>
          <a:lstStyle/>
          <a:p>
            <a:pPr>
              <a:spcAft>
                <a:spcPts val="600"/>
              </a:spcAft>
            </a:pPr>
            <a:r>
              <a:rPr sz="1600" b="0" i="0" dirty="0">
                <a:solidFill>
                  <a:srgbClr val="2B2B2B"/>
                </a:solidFill>
                <a:latin typeface="Calibri"/>
              </a:rPr>
              <a:t>•  Axe 1 — Configuration des </a:t>
            </a:r>
            <a:r>
              <a:rPr sz="1600" b="0" i="0" dirty="0" err="1">
                <a:solidFill>
                  <a:srgbClr val="2B2B2B"/>
                </a:solidFill>
                <a:latin typeface="Calibri"/>
              </a:rPr>
              <a:t>modèles</a:t>
            </a:r>
            <a:r>
              <a:rPr sz="1600" b="0" i="0" dirty="0">
                <a:solidFill>
                  <a:srgbClr val="2B2B2B"/>
                </a:solidFill>
                <a:latin typeface="Calibri"/>
              </a:rPr>
              <a:t> open-source </a:t>
            </a:r>
            <a:r>
              <a:rPr sz="1600" b="0" i="0" dirty="0" err="1">
                <a:solidFill>
                  <a:srgbClr val="2B2B2B"/>
                </a:solidFill>
                <a:latin typeface="Calibri"/>
              </a:rPr>
              <a:t>en</a:t>
            </a:r>
            <a:r>
              <a:rPr sz="1600" b="0" i="0" dirty="0">
                <a:solidFill>
                  <a:srgbClr val="2B2B2B"/>
                </a:solidFill>
                <a:latin typeface="Calibri"/>
              </a:rPr>
              <a:t> local</a:t>
            </a:r>
          </a:p>
          <a:p>
            <a:pPr lvl="1">
              <a:spcAft>
                <a:spcPts val="600"/>
              </a:spcAft>
            </a:pPr>
            <a:r>
              <a:rPr sz="1500" b="0" i="0" dirty="0">
                <a:solidFill>
                  <a:srgbClr val="5D6D7E"/>
                </a:solidFill>
                <a:latin typeface="Calibri"/>
              </a:rPr>
              <a:t>–  Quelle </a:t>
            </a:r>
            <a:r>
              <a:rPr sz="1500" b="0" i="0" dirty="0" err="1">
                <a:solidFill>
                  <a:srgbClr val="5D6D7E"/>
                </a:solidFill>
                <a:latin typeface="Calibri"/>
              </a:rPr>
              <a:t>combinaison</a:t>
            </a:r>
            <a:r>
              <a:rPr sz="1500" b="0" i="0" dirty="0">
                <a:solidFill>
                  <a:srgbClr val="5D6D7E"/>
                </a:solidFill>
                <a:latin typeface="Calibri"/>
              </a:rPr>
              <a:t> embedding / </a:t>
            </a:r>
            <a:r>
              <a:rPr sz="1500" b="0" i="0" dirty="0" err="1">
                <a:solidFill>
                  <a:srgbClr val="5D6D7E"/>
                </a:solidFill>
                <a:latin typeface="Calibri"/>
              </a:rPr>
              <a:t>génération</a:t>
            </a:r>
            <a:r>
              <a:rPr sz="1500" b="0" i="0" dirty="0">
                <a:solidFill>
                  <a:srgbClr val="5D6D7E"/>
                </a:solidFill>
                <a:latin typeface="Calibri"/>
              </a:rPr>
              <a:t> / reranking pour un RAG </a:t>
            </a:r>
            <a:r>
              <a:rPr sz="1500" b="0" i="0" dirty="0" err="1">
                <a:solidFill>
                  <a:srgbClr val="5D6D7E"/>
                </a:solidFill>
                <a:latin typeface="Calibri"/>
              </a:rPr>
              <a:t>juridique</a:t>
            </a:r>
            <a:r>
              <a:rPr sz="1500" b="0" i="0" dirty="0">
                <a:solidFill>
                  <a:srgbClr val="5D6D7E"/>
                </a:solidFill>
                <a:latin typeface="Calibri"/>
              </a:rPr>
              <a:t> français ?</a:t>
            </a:r>
          </a:p>
          <a:p>
            <a:pPr lvl="1">
              <a:spcAft>
                <a:spcPts val="600"/>
              </a:spcAft>
            </a:pPr>
            <a:r>
              <a:rPr sz="1500" b="0" i="0" dirty="0">
                <a:solidFill>
                  <a:srgbClr val="5D6D7E"/>
                </a:solidFill>
                <a:latin typeface="Calibri"/>
              </a:rPr>
              <a:t>–  H1 : </a:t>
            </a:r>
            <a:r>
              <a:rPr sz="1500" b="0" i="0" dirty="0" err="1">
                <a:solidFill>
                  <a:srgbClr val="5D6D7E"/>
                </a:solidFill>
                <a:latin typeface="Calibri"/>
              </a:rPr>
              <a:t>HyDE</a:t>
            </a:r>
            <a:r>
              <a:rPr sz="1500" b="0" i="0" dirty="0">
                <a:solidFill>
                  <a:srgbClr val="5D6D7E"/>
                </a:solidFill>
                <a:latin typeface="Calibri"/>
              </a:rPr>
              <a:t> et le reranking par cross-encoder </a:t>
            </a:r>
            <a:r>
              <a:rPr sz="1500" b="0" i="0" dirty="0" err="1">
                <a:solidFill>
                  <a:srgbClr val="5D6D7E"/>
                </a:solidFill>
                <a:latin typeface="Calibri"/>
              </a:rPr>
              <a:t>améliorent</a:t>
            </a:r>
            <a:r>
              <a:rPr sz="1500" b="0" i="0" dirty="0">
                <a:solidFill>
                  <a:srgbClr val="5D6D7E"/>
                </a:solidFill>
                <a:latin typeface="Calibri"/>
              </a:rPr>
              <a:t> les performances </a:t>
            </a:r>
            <a:r>
              <a:rPr sz="1500" b="0" i="0" dirty="0" err="1">
                <a:solidFill>
                  <a:srgbClr val="5D6D7E"/>
                </a:solidFill>
                <a:latin typeface="Calibri"/>
              </a:rPr>
              <a:t>globales</a:t>
            </a:r>
            <a:r>
              <a:rPr sz="1500" b="0" i="0" dirty="0">
                <a:solidFill>
                  <a:srgbClr val="5D6D7E"/>
                </a:solidFill>
                <a:latin typeface="Calibri"/>
              </a:rPr>
              <a:t>.</a:t>
            </a:r>
          </a:p>
          <a:p>
            <a:pPr>
              <a:spcAft>
                <a:spcPts val="600"/>
              </a:spcAft>
            </a:pPr>
            <a:r>
              <a:rPr sz="1600" b="0" i="0" dirty="0">
                <a:solidFill>
                  <a:srgbClr val="2B2B2B"/>
                </a:solidFill>
                <a:latin typeface="Calibri"/>
              </a:rPr>
              <a:t>•  Axe 2 — </a:t>
            </a:r>
            <a:r>
              <a:rPr sz="1600" b="0" i="0" dirty="0" err="1">
                <a:solidFill>
                  <a:srgbClr val="2B2B2B"/>
                </a:solidFill>
                <a:latin typeface="Calibri"/>
              </a:rPr>
              <a:t>Méthodologie</a:t>
            </a:r>
            <a:r>
              <a:rPr sz="1600" b="0" i="0" dirty="0">
                <a:solidFill>
                  <a:srgbClr val="2B2B2B"/>
                </a:solidFill>
                <a:latin typeface="Calibri"/>
              </a:rPr>
              <a:t> </a:t>
            </a:r>
            <a:r>
              <a:rPr sz="1600" b="0" i="0" dirty="0" err="1">
                <a:solidFill>
                  <a:srgbClr val="2B2B2B"/>
                </a:solidFill>
                <a:latin typeface="Calibri"/>
              </a:rPr>
              <a:t>d'évaluation</a:t>
            </a:r>
            <a:r>
              <a:rPr sz="1600" b="0" i="0" dirty="0">
                <a:solidFill>
                  <a:srgbClr val="2B2B2B"/>
                </a:solidFill>
                <a:latin typeface="Calibri"/>
              </a:rPr>
              <a:t> objective</a:t>
            </a:r>
          </a:p>
          <a:p>
            <a:pPr lvl="1">
              <a:spcAft>
                <a:spcPts val="600"/>
              </a:spcAft>
            </a:pPr>
            <a:r>
              <a:rPr sz="1500" b="0" i="0" dirty="0">
                <a:solidFill>
                  <a:srgbClr val="5D6D7E"/>
                </a:solidFill>
                <a:latin typeface="Calibri"/>
              </a:rPr>
              <a:t>–  Comment </a:t>
            </a:r>
            <a:r>
              <a:rPr sz="1500" b="0" i="0" dirty="0" err="1">
                <a:solidFill>
                  <a:srgbClr val="5D6D7E"/>
                </a:solidFill>
                <a:latin typeface="Calibri"/>
              </a:rPr>
              <a:t>mesurer</a:t>
            </a:r>
            <a:r>
              <a:rPr sz="1500" b="0" i="0" dirty="0">
                <a:solidFill>
                  <a:srgbClr val="5D6D7E"/>
                </a:solidFill>
                <a:latin typeface="Calibri"/>
              </a:rPr>
              <a:t> </a:t>
            </a:r>
            <a:r>
              <a:rPr sz="1500" b="0" i="0" dirty="0" err="1">
                <a:solidFill>
                  <a:srgbClr val="5D6D7E"/>
                </a:solidFill>
                <a:latin typeface="Calibri"/>
              </a:rPr>
              <a:t>précision</a:t>
            </a:r>
            <a:r>
              <a:rPr sz="1500" b="0" i="0" dirty="0">
                <a:solidFill>
                  <a:srgbClr val="5D6D7E"/>
                </a:solidFill>
                <a:latin typeface="Calibri"/>
              </a:rPr>
              <a:t> de recherche et </a:t>
            </a:r>
            <a:r>
              <a:rPr sz="1500" b="0" i="0" dirty="0" err="1">
                <a:solidFill>
                  <a:srgbClr val="5D6D7E"/>
                </a:solidFill>
                <a:latin typeface="Calibri"/>
              </a:rPr>
              <a:t>fidélité</a:t>
            </a:r>
            <a:r>
              <a:rPr sz="1500" b="0" i="0" dirty="0">
                <a:solidFill>
                  <a:srgbClr val="5D6D7E"/>
                </a:solidFill>
                <a:latin typeface="Calibri"/>
              </a:rPr>
              <a:t> via RAGAS, face aux </a:t>
            </a:r>
            <a:r>
              <a:rPr sz="1500" b="0" i="0" dirty="0" err="1">
                <a:solidFill>
                  <a:srgbClr val="5D6D7E"/>
                </a:solidFill>
                <a:latin typeface="Calibri"/>
              </a:rPr>
              <a:t>limites</a:t>
            </a:r>
            <a:r>
              <a:rPr sz="1500" b="0" i="0" dirty="0">
                <a:solidFill>
                  <a:srgbClr val="5D6D7E"/>
                </a:solidFill>
                <a:latin typeface="Calibri"/>
              </a:rPr>
              <a:t> de </a:t>
            </a:r>
            <a:r>
              <a:rPr sz="1500" b="0" i="0" dirty="0" err="1">
                <a:solidFill>
                  <a:srgbClr val="5D6D7E"/>
                </a:solidFill>
                <a:latin typeface="Calibri"/>
              </a:rPr>
              <a:t>l'évaluation</a:t>
            </a:r>
            <a:r>
              <a:rPr sz="1500" b="0" i="0" dirty="0">
                <a:solidFill>
                  <a:srgbClr val="5D6D7E"/>
                </a:solidFill>
                <a:latin typeface="Calibri"/>
              </a:rPr>
              <a:t> </a:t>
            </a:r>
            <a:r>
              <a:rPr sz="1500" b="0" i="0" dirty="0" err="1">
                <a:solidFill>
                  <a:srgbClr val="5D6D7E"/>
                </a:solidFill>
                <a:latin typeface="Calibri"/>
              </a:rPr>
              <a:t>automatique</a:t>
            </a:r>
            <a:r>
              <a:rPr sz="1500" b="0" i="0" dirty="0">
                <a:solidFill>
                  <a:srgbClr val="5D6D7E"/>
                </a:solidFill>
                <a:latin typeface="Calibri"/>
              </a:rPr>
              <a:t> ?</a:t>
            </a:r>
          </a:p>
          <a:p>
            <a:pPr lvl="1">
              <a:spcAft>
                <a:spcPts val="600"/>
              </a:spcAft>
            </a:pPr>
            <a:r>
              <a:rPr sz="1500" b="0" i="0" dirty="0">
                <a:solidFill>
                  <a:srgbClr val="5D6D7E"/>
                </a:solidFill>
                <a:latin typeface="Calibri"/>
              </a:rPr>
              <a:t>–  H2 : des </a:t>
            </a:r>
            <a:r>
              <a:rPr sz="1500" b="0" i="0" dirty="0" err="1">
                <a:solidFill>
                  <a:srgbClr val="5D6D7E"/>
                </a:solidFill>
                <a:latin typeface="Calibri"/>
              </a:rPr>
              <a:t>modèles</a:t>
            </a:r>
            <a:r>
              <a:rPr sz="1500" b="0" i="0" dirty="0">
                <a:solidFill>
                  <a:srgbClr val="5D6D7E"/>
                </a:solidFill>
                <a:latin typeface="Calibri"/>
              </a:rPr>
              <a:t> open-source </a:t>
            </a:r>
            <a:r>
              <a:rPr sz="1500" b="0" i="0" dirty="0" err="1">
                <a:solidFill>
                  <a:srgbClr val="5D6D7E"/>
                </a:solidFill>
                <a:latin typeface="Calibri"/>
              </a:rPr>
              <a:t>locaux</a:t>
            </a:r>
            <a:r>
              <a:rPr sz="1500" b="0" i="0" dirty="0">
                <a:solidFill>
                  <a:srgbClr val="5D6D7E"/>
                </a:solidFill>
                <a:latin typeface="Calibri"/>
              </a:rPr>
              <a:t> </a:t>
            </a:r>
            <a:r>
              <a:rPr sz="1500" b="0" i="0" dirty="0" err="1">
                <a:solidFill>
                  <a:srgbClr val="5D6D7E"/>
                </a:solidFill>
                <a:latin typeface="Calibri"/>
              </a:rPr>
              <a:t>atteignent</a:t>
            </a:r>
            <a:r>
              <a:rPr sz="1500" b="0" i="0" dirty="0">
                <a:solidFill>
                  <a:srgbClr val="5D6D7E"/>
                </a:solidFill>
                <a:latin typeface="Calibri"/>
              </a:rPr>
              <a:t> </a:t>
            </a:r>
            <a:r>
              <a:rPr sz="1500" b="0" i="0" dirty="0" err="1">
                <a:solidFill>
                  <a:srgbClr val="5D6D7E"/>
                </a:solidFill>
                <a:latin typeface="Calibri"/>
              </a:rPr>
              <a:t>une</a:t>
            </a:r>
            <a:r>
              <a:rPr sz="1500" b="0" i="0" dirty="0">
                <a:solidFill>
                  <a:srgbClr val="5D6D7E"/>
                </a:solidFill>
                <a:latin typeface="Calibri"/>
              </a:rPr>
              <a:t> </a:t>
            </a:r>
            <a:r>
              <a:rPr sz="1500" b="0" i="0" dirty="0" err="1">
                <a:solidFill>
                  <a:srgbClr val="5D6D7E"/>
                </a:solidFill>
                <a:latin typeface="Calibri"/>
              </a:rPr>
              <a:t>qualité</a:t>
            </a:r>
            <a:r>
              <a:rPr sz="1500" b="0" i="0" dirty="0">
                <a:solidFill>
                  <a:srgbClr val="5D6D7E"/>
                </a:solidFill>
                <a:latin typeface="Calibri"/>
              </a:rPr>
              <a:t> suffisante pour un usage </a:t>
            </a:r>
            <a:r>
              <a:rPr sz="1500" b="0" i="0" dirty="0" err="1">
                <a:solidFill>
                  <a:srgbClr val="5D6D7E"/>
                </a:solidFill>
                <a:latin typeface="Calibri"/>
              </a:rPr>
              <a:t>juridique</a:t>
            </a:r>
            <a:r>
              <a:rPr sz="1500" b="0" i="0" dirty="0">
                <a:solidFill>
                  <a:srgbClr val="5D6D7E"/>
                </a:solidFill>
                <a:latin typeface="Calibri"/>
              </a:rPr>
              <a:t> </a:t>
            </a:r>
            <a:r>
              <a:rPr sz="1500" b="0" i="0" dirty="0" err="1">
                <a:solidFill>
                  <a:srgbClr val="5D6D7E"/>
                </a:solidFill>
                <a:latin typeface="Calibri"/>
              </a:rPr>
              <a:t>institutionnel</a:t>
            </a:r>
            <a:r>
              <a:rPr sz="1500" b="0" i="0" dirty="0">
                <a:solidFill>
                  <a:srgbClr val="5D6D7E"/>
                </a:solidFill>
                <a:latin typeface="Calibri"/>
              </a:rPr>
              <a:t>.</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6 / 24</a:t>
            </a:r>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1 — REVUE DE LA LITTÉRATURE</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L'état de l'art en cinq travaux</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640080" y="1737360"/>
          <a:ext cx="10881360" cy="310896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518160">
                <a:tc>
                  <a:txBody>
                    <a:bodyPr/>
                    <a:lstStyle/>
                    <a:p>
                      <a:r>
                        <a:rPr sz="1300" b="1" dirty="0">
                          <a:solidFill>
                            <a:srgbClr val="FFFFFF"/>
                          </a:solidFill>
                          <a:latin typeface="Calibri"/>
                        </a:rPr>
                        <a:t>Travail</a:t>
                      </a:r>
                    </a:p>
                  </a:txBody>
                  <a:tcPr/>
                </a:tc>
                <a:tc>
                  <a:txBody>
                    <a:bodyPr/>
                    <a:lstStyle/>
                    <a:p>
                      <a:r>
                        <a:rPr sz="1300" b="1">
                          <a:solidFill>
                            <a:srgbClr val="FFFFFF"/>
                          </a:solidFill>
                          <a:latin typeface="Calibri"/>
                        </a:rPr>
                        <a:t>Apport</a:t>
                      </a:r>
                    </a:p>
                  </a:txBody>
                  <a:tcPr/>
                </a:tc>
                <a:tc>
                  <a:txBody>
                    <a:bodyPr/>
                    <a:lstStyle/>
                    <a:p>
                      <a:r>
                        <a:rPr sz="1300" b="1">
                          <a:solidFill>
                            <a:srgbClr val="FFFFFF"/>
                          </a:solidFill>
                          <a:latin typeface="Calibri"/>
                        </a:rPr>
                        <a:t>Brique du système</a:t>
                      </a:r>
                    </a:p>
                  </a:txBody>
                  <a:tcPr/>
                </a:tc>
                <a:extLst>
                  <a:ext uri="{0D108BD9-81ED-4DB2-BD59-A6C34878D82A}">
                    <a16:rowId xmlns:a16="http://schemas.microsoft.com/office/drawing/2014/main" val="10000"/>
                  </a:ext>
                </a:extLst>
              </a:tr>
              <a:tr h="518160">
                <a:tc>
                  <a:txBody>
                    <a:bodyPr/>
                    <a:lstStyle/>
                    <a:p>
                      <a:r>
                        <a:rPr sz="1200" b="0" dirty="0">
                          <a:solidFill>
                            <a:srgbClr val="2B2B2B"/>
                          </a:solidFill>
                          <a:latin typeface="Calibri"/>
                        </a:rPr>
                        <a:t>Lewis et al. (2020)</a:t>
                      </a:r>
                    </a:p>
                  </a:txBody>
                  <a:tcPr/>
                </a:tc>
                <a:tc>
                  <a:txBody>
                    <a:bodyPr/>
                    <a:lstStyle/>
                    <a:p>
                      <a:r>
                        <a:rPr sz="1200" b="0">
                          <a:solidFill>
                            <a:srgbClr val="2B2B2B"/>
                          </a:solidFill>
                          <a:latin typeface="Calibri"/>
                        </a:rPr>
                        <a:t>RAG : dissocier mémoire et raisonnement</a:t>
                      </a:r>
                    </a:p>
                  </a:txBody>
                  <a:tcPr/>
                </a:tc>
                <a:tc>
                  <a:txBody>
                    <a:bodyPr/>
                    <a:lstStyle/>
                    <a:p>
                      <a:r>
                        <a:rPr sz="1200" b="0">
                          <a:solidFill>
                            <a:srgbClr val="2B2B2B"/>
                          </a:solidFill>
                          <a:latin typeface="Calibri"/>
                        </a:rPr>
                        <a:t>Architecture globale</a:t>
                      </a:r>
                    </a:p>
                  </a:txBody>
                  <a:tcPr/>
                </a:tc>
                <a:extLst>
                  <a:ext uri="{0D108BD9-81ED-4DB2-BD59-A6C34878D82A}">
                    <a16:rowId xmlns:a16="http://schemas.microsoft.com/office/drawing/2014/main" val="10001"/>
                  </a:ext>
                </a:extLst>
              </a:tr>
              <a:tr h="518160">
                <a:tc>
                  <a:txBody>
                    <a:bodyPr/>
                    <a:lstStyle/>
                    <a:p>
                      <a:r>
                        <a:rPr sz="1200" b="0" dirty="0">
                          <a:solidFill>
                            <a:srgbClr val="2B2B2B"/>
                          </a:solidFill>
                          <a:latin typeface="Calibri"/>
                        </a:rPr>
                        <a:t>Reimers &amp; </a:t>
                      </a:r>
                      <a:r>
                        <a:rPr sz="1200" b="0" dirty="0" err="1">
                          <a:solidFill>
                            <a:srgbClr val="2B2B2B"/>
                          </a:solidFill>
                          <a:latin typeface="Calibri"/>
                        </a:rPr>
                        <a:t>Gurevych</a:t>
                      </a:r>
                      <a:r>
                        <a:rPr sz="1200" b="0" dirty="0">
                          <a:solidFill>
                            <a:srgbClr val="2B2B2B"/>
                          </a:solidFill>
                          <a:latin typeface="Calibri"/>
                        </a:rPr>
                        <a:t> (2019)</a:t>
                      </a:r>
                    </a:p>
                  </a:txBody>
                  <a:tcPr/>
                </a:tc>
                <a:tc>
                  <a:txBody>
                    <a:bodyPr/>
                    <a:lstStyle/>
                    <a:p>
                      <a:r>
                        <a:rPr sz="1200" b="0">
                          <a:solidFill>
                            <a:srgbClr val="2B2B2B"/>
                          </a:solidFill>
                          <a:latin typeface="Calibri"/>
                        </a:rPr>
                        <a:t>Bi-encodeur SBERT, similarité cosinus</a:t>
                      </a:r>
                    </a:p>
                  </a:txBody>
                  <a:tcPr/>
                </a:tc>
                <a:tc>
                  <a:txBody>
                    <a:bodyPr/>
                    <a:lstStyle/>
                    <a:p>
                      <a:r>
                        <a:rPr sz="1200" b="0">
                          <a:solidFill>
                            <a:srgbClr val="2B2B2B"/>
                          </a:solidFill>
                          <a:latin typeface="Calibri"/>
                        </a:rPr>
                        <a:t>Embeddings (bge-m3)</a:t>
                      </a:r>
                    </a:p>
                  </a:txBody>
                  <a:tcPr/>
                </a:tc>
                <a:extLst>
                  <a:ext uri="{0D108BD9-81ED-4DB2-BD59-A6C34878D82A}">
                    <a16:rowId xmlns:a16="http://schemas.microsoft.com/office/drawing/2014/main" val="10002"/>
                  </a:ext>
                </a:extLst>
              </a:tr>
              <a:tr h="518160">
                <a:tc>
                  <a:txBody>
                    <a:bodyPr/>
                    <a:lstStyle/>
                    <a:p>
                      <a:r>
                        <a:rPr sz="1200" b="0" dirty="0">
                          <a:solidFill>
                            <a:srgbClr val="2B2B2B"/>
                          </a:solidFill>
                          <a:latin typeface="Calibri"/>
                        </a:rPr>
                        <a:t>Gao et al. (2022)</a:t>
                      </a:r>
                    </a:p>
                  </a:txBody>
                  <a:tcPr/>
                </a:tc>
                <a:tc>
                  <a:txBody>
                    <a:bodyPr/>
                    <a:lstStyle/>
                    <a:p>
                      <a:r>
                        <a:rPr sz="1200" b="0">
                          <a:solidFill>
                            <a:srgbClr val="2B2B2B"/>
                          </a:solidFill>
                          <a:latin typeface="Calibri"/>
                        </a:rPr>
                        <a:t>HyDE : combler le fossé lexical</a:t>
                      </a:r>
                    </a:p>
                  </a:txBody>
                  <a:tcPr/>
                </a:tc>
                <a:tc>
                  <a:txBody>
                    <a:bodyPr/>
                    <a:lstStyle/>
                    <a:p>
                      <a:r>
                        <a:rPr sz="1200" b="0">
                          <a:solidFill>
                            <a:srgbClr val="2B2B2B"/>
                          </a:solidFill>
                          <a:latin typeface="Calibri"/>
                        </a:rPr>
                        <a:t>Recherche augmentée</a:t>
                      </a:r>
                    </a:p>
                  </a:txBody>
                  <a:tcPr/>
                </a:tc>
                <a:extLst>
                  <a:ext uri="{0D108BD9-81ED-4DB2-BD59-A6C34878D82A}">
                    <a16:rowId xmlns:a16="http://schemas.microsoft.com/office/drawing/2014/main" val="10003"/>
                  </a:ext>
                </a:extLst>
              </a:tr>
              <a:tr h="518160">
                <a:tc>
                  <a:txBody>
                    <a:bodyPr/>
                    <a:lstStyle/>
                    <a:p>
                      <a:r>
                        <a:rPr sz="1200" b="0" dirty="0">
                          <a:solidFill>
                            <a:srgbClr val="2B2B2B"/>
                          </a:solidFill>
                          <a:latin typeface="Calibri"/>
                        </a:rPr>
                        <a:t>Nogueira &amp; Cho (2019)</a:t>
                      </a:r>
                    </a:p>
                  </a:txBody>
                  <a:tcPr/>
                </a:tc>
                <a:tc>
                  <a:txBody>
                    <a:bodyPr/>
                    <a:lstStyle/>
                    <a:p>
                      <a:r>
                        <a:rPr sz="1200" b="0">
                          <a:solidFill>
                            <a:srgbClr val="2B2B2B"/>
                          </a:solidFill>
                          <a:latin typeface="Calibri"/>
                        </a:rPr>
                        <a:t>Reranking cross-encoder</a:t>
                      </a:r>
                    </a:p>
                  </a:txBody>
                  <a:tcPr/>
                </a:tc>
                <a:tc>
                  <a:txBody>
                    <a:bodyPr/>
                    <a:lstStyle/>
                    <a:p>
                      <a:r>
                        <a:rPr sz="1200" b="0">
                          <a:solidFill>
                            <a:srgbClr val="2B2B2B"/>
                          </a:solidFill>
                          <a:latin typeface="Calibri"/>
                        </a:rPr>
                        <a:t>ms-marco-MiniLM</a:t>
                      </a:r>
                    </a:p>
                  </a:txBody>
                  <a:tcPr/>
                </a:tc>
                <a:extLst>
                  <a:ext uri="{0D108BD9-81ED-4DB2-BD59-A6C34878D82A}">
                    <a16:rowId xmlns:a16="http://schemas.microsoft.com/office/drawing/2014/main" val="10004"/>
                  </a:ext>
                </a:extLst>
              </a:tr>
              <a:tr h="518160">
                <a:tc>
                  <a:txBody>
                    <a:bodyPr/>
                    <a:lstStyle/>
                    <a:p>
                      <a:r>
                        <a:rPr sz="1200" b="0" dirty="0">
                          <a:solidFill>
                            <a:srgbClr val="2B2B2B"/>
                          </a:solidFill>
                          <a:latin typeface="Calibri"/>
                        </a:rPr>
                        <a:t>Es et al. (2023)</a:t>
                      </a:r>
                    </a:p>
                  </a:txBody>
                  <a:tcPr/>
                </a:tc>
                <a:tc>
                  <a:txBody>
                    <a:bodyPr/>
                    <a:lstStyle/>
                    <a:p>
                      <a:r>
                        <a:rPr sz="1200" b="0">
                          <a:solidFill>
                            <a:srgbClr val="2B2B2B"/>
                          </a:solidFill>
                          <a:latin typeface="Calibri"/>
                        </a:rPr>
                        <a:t>RAGAS : évaluation par LLM-juge</a:t>
                      </a:r>
                    </a:p>
                  </a:txBody>
                  <a:tcPr/>
                </a:tc>
                <a:tc>
                  <a:txBody>
                    <a:bodyPr/>
                    <a:lstStyle/>
                    <a:p>
                      <a:r>
                        <a:rPr sz="1200" b="0" dirty="0" err="1">
                          <a:solidFill>
                            <a:srgbClr val="2B2B2B"/>
                          </a:solidFill>
                          <a:latin typeface="Calibri"/>
                        </a:rPr>
                        <a:t>Protocole</a:t>
                      </a:r>
                      <a:r>
                        <a:rPr sz="1200" b="0" dirty="0">
                          <a:solidFill>
                            <a:srgbClr val="2B2B2B"/>
                          </a:solidFill>
                          <a:latin typeface="Calibri"/>
                        </a:rPr>
                        <a:t> </a:t>
                      </a:r>
                      <a:r>
                        <a:rPr sz="1200" b="0" dirty="0" err="1">
                          <a:solidFill>
                            <a:srgbClr val="2B2B2B"/>
                          </a:solidFill>
                          <a:latin typeface="Calibri"/>
                        </a:rPr>
                        <a:t>d'évaluation</a:t>
                      </a:r>
                      <a:endParaRPr sz="1200" b="0" dirty="0">
                        <a:solidFill>
                          <a:srgbClr val="2B2B2B"/>
                        </a:solidFill>
                        <a:latin typeface="Calibri"/>
                      </a:endParaRPr>
                    </a:p>
                  </a:txBody>
                  <a:tcPr/>
                </a:tc>
                <a:extLst>
                  <a:ext uri="{0D108BD9-81ED-4DB2-BD59-A6C34878D82A}">
                    <a16:rowId xmlns:a16="http://schemas.microsoft.com/office/drawing/2014/main" val="10005"/>
                  </a:ext>
                </a:extLst>
              </a:tr>
            </a:tbl>
          </a:graphicData>
        </a:graphic>
      </p:graphicFrame>
      <p:sp>
        <p:nvSpPr>
          <p:cNvPr id="6" name="TextBox 5"/>
          <p:cNvSpPr txBox="1"/>
          <p:nvPr/>
        </p:nvSpPr>
        <p:spPr>
          <a:xfrm>
            <a:off x="640080" y="5120640"/>
            <a:ext cx="10881360" cy="731520"/>
          </a:xfrm>
          <a:prstGeom prst="rect">
            <a:avLst/>
          </a:prstGeom>
          <a:noFill/>
        </p:spPr>
        <p:txBody>
          <a:bodyPr wrap="square" anchor="t">
            <a:spAutoFit/>
          </a:bodyPr>
          <a:lstStyle/>
          <a:p>
            <a:r>
              <a:rPr sz="1400" b="0" i="1">
                <a:solidFill>
                  <a:srgbClr val="5D6D7E"/>
                </a:solidFill>
                <a:latin typeface="Calibri"/>
              </a:rPr>
              <a:t>Fil conducteur : chaque article résout la limite du précédent ; chaque brique de notre système en découle directement.</a:t>
            </a:r>
          </a:p>
        </p:txBody>
      </p:sp>
      <p:cxnSp>
        <p:nvCxnSpPr>
          <p:cNvPr id="7" name="Connector 6"/>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9" name="TextBox 8"/>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7 / 24</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1 · 1.5</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Positionnement de la recherche</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37360"/>
            <a:ext cx="10972800" cy="4663440"/>
          </a:xfrm>
          <a:prstGeom prst="rect">
            <a:avLst/>
          </a:prstGeom>
          <a:noFill/>
        </p:spPr>
        <p:txBody>
          <a:bodyPr wrap="square" anchor="t">
            <a:spAutoFit/>
          </a:bodyPr>
          <a:lstStyle/>
          <a:p>
            <a:pPr>
              <a:spcAft>
                <a:spcPts val="600"/>
              </a:spcAft>
            </a:pPr>
            <a:r>
              <a:rPr sz="1600" b="0" i="0" dirty="0">
                <a:solidFill>
                  <a:srgbClr val="2B2B2B"/>
                </a:solidFill>
                <a:latin typeface="Calibri"/>
              </a:rPr>
              <a:t>•  Les </a:t>
            </a:r>
            <a:r>
              <a:rPr sz="1600" b="0" i="0" dirty="0" err="1">
                <a:solidFill>
                  <a:srgbClr val="2B2B2B"/>
                </a:solidFill>
                <a:latin typeface="Calibri"/>
              </a:rPr>
              <a:t>briques</a:t>
            </a:r>
            <a:r>
              <a:rPr sz="1600" b="0" i="0" dirty="0">
                <a:solidFill>
                  <a:srgbClr val="2B2B2B"/>
                </a:solidFill>
                <a:latin typeface="Calibri"/>
              </a:rPr>
              <a:t> existent dans la </a:t>
            </a:r>
            <a:r>
              <a:rPr sz="1600" b="0" i="0" dirty="0" err="1">
                <a:solidFill>
                  <a:srgbClr val="2B2B2B"/>
                </a:solidFill>
                <a:latin typeface="Calibri"/>
              </a:rPr>
              <a:t>littérature</a:t>
            </a:r>
            <a:r>
              <a:rPr sz="1600" b="0" i="0" dirty="0">
                <a:solidFill>
                  <a:srgbClr val="2B2B2B"/>
                </a:solidFill>
                <a:latin typeface="Calibri"/>
              </a:rPr>
              <a:t>, </a:t>
            </a:r>
            <a:r>
              <a:rPr sz="1600" b="0" i="0" dirty="0" err="1">
                <a:solidFill>
                  <a:srgbClr val="2B2B2B"/>
                </a:solidFill>
                <a:latin typeface="Calibri"/>
              </a:rPr>
              <a:t>mais</a:t>
            </a:r>
            <a:r>
              <a:rPr sz="1600" b="0" i="0" dirty="0">
                <a:solidFill>
                  <a:srgbClr val="2B2B2B"/>
                </a:solidFill>
                <a:latin typeface="Calibri"/>
              </a:rPr>
              <a:t> </a:t>
            </a:r>
            <a:r>
              <a:rPr sz="1600" b="0" i="0" dirty="0" err="1">
                <a:solidFill>
                  <a:srgbClr val="2B2B2B"/>
                </a:solidFill>
                <a:latin typeface="Calibri"/>
              </a:rPr>
              <a:t>leur</a:t>
            </a:r>
            <a:r>
              <a:rPr sz="1600" b="0" i="0" dirty="0">
                <a:solidFill>
                  <a:srgbClr val="2B2B2B"/>
                </a:solidFill>
                <a:latin typeface="Calibri"/>
              </a:rPr>
              <a:t> assemblage pour </a:t>
            </a:r>
            <a:r>
              <a:rPr sz="1600" b="0" i="0" dirty="0" err="1">
                <a:solidFill>
                  <a:srgbClr val="2B2B2B"/>
                </a:solidFill>
                <a:latin typeface="Calibri"/>
              </a:rPr>
              <a:t>notre</a:t>
            </a:r>
            <a:r>
              <a:rPr sz="1600" b="0" i="0" dirty="0">
                <a:solidFill>
                  <a:srgbClr val="2B2B2B"/>
                </a:solidFill>
                <a:latin typeface="Calibri"/>
              </a:rPr>
              <a:t> </a:t>
            </a:r>
            <a:r>
              <a:rPr sz="1600" b="0" i="0" dirty="0" err="1">
                <a:solidFill>
                  <a:srgbClr val="2B2B2B"/>
                </a:solidFill>
                <a:latin typeface="Calibri"/>
              </a:rPr>
              <a:t>cas</a:t>
            </a:r>
            <a:r>
              <a:rPr sz="1600" b="0" i="0" dirty="0">
                <a:solidFill>
                  <a:srgbClr val="2B2B2B"/>
                </a:solidFill>
                <a:latin typeface="Calibri"/>
              </a:rPr>
              <a:t> est </a:t>
            </a:r>
            <a:r>
              <a:rPr sz="1600" b="0" i="0" dirty="0" err="1">
                <a:solidFill>
                  <a:srgbClr val="2B2B2B"/>
                </a:solidFill>
                <a:latin typeface="Calibri"/>
              </a:rPr>
              <a:t>inédit</a:t>
            </a:r>
            <a:r>
              <a:rPr sz="1600" b="0" i="0" dirty="0">
                <a:solidFill>
                  <a:srgbClr val="2B2B2B"/>
                </a:solidFill>
                <a:latin typeface="Calibri"/>
              </a:rPr>
              <a:t> :</a:t>
            </a:r>
          </a:p>
          <a:p>
            <a:pPr lvl="1">
              <a:spcAft>
                <a:spcPts val="600"/>
              </a:spcAft>
            </a:pPr>
            <a:r>
              <a:rPr sz="1500" b="0" i="0" dirty="0">
                <a:solidFill>
                  <a:srgbClr val="5D6D7E"/>
                </a:solidFill>
                <a:latin typeface="Calibri"/>
              </a:rPr>
              <a:t>–  </a:t>
            </a:r>
            <a:r>
              <a:rPr sz="1500" b="0" i="0" dirty="0" err="1">
                <a:solidFill>
                  <a:srgbClr val="5D6D7E"/>
                </a:solidFill>
                <a:latin typeface="Calibri"/>
              </a:rPr>
              <a:t>souveraineté</a:t>
            </a:r>
            <a:r>
              <a:rPr sz="1500" b="0" i="0" dirty="0">
                <a:solidFill>
                  <a:srgbClr val="5D6D7E"/>
                </a:solidFill>
                <a:latin typeface="Calibri"/>
              </a:rPr>
              <a:t> — tout open-source et 100 % local, </a:t>
            </a:r>
            <a:r>
              <a:rPr sz="1500" b="0" i="0" dirty="0" err="1">
                <a:solidFill>
                  <a:srgbClr val="5D6D7E"/>
                </a:solidFill>
                <a:latin typeface="Calibri"/>
              </a:rPr>
              <a:t>là</a:t>
            </a:r>
            <a:r>
              <a:rPr sz="1500" b="0" i="0" dirty="0">
                <a:solidFill>
                  <a:srgbClr val="5D6D7E"/>
                </a:solidFill>
                <a:latin typeface="Calibri"/>
              </a:rPr>
              <a:t> </a:t>
            </a:r>
            <a:r>
              <a:rPr sz="1500" b="0" i="0" dirty="0" err="1">
                <a:solidFill>
                  <a:srgbClr val="5D6D7E"/>
                </a:solidFill>
                <a:latin typeface="Calibri"/>
              </a:rPr>
              <a:t>où</a:t>
            </a:r>
            <a:r>
              <a:rPr sz="1500" b="0" i="0" dirty="0">
                <a:solidFill>
                  <a:srgbClr val="5D6D7E"/>
                </a:solidFill>
                <a:latin typeface="Calibri"/>
              </a:rPr>
              <a:t> les articles </a:t>
            </a:r>
            <a:r>
              <a:rPr sz="1500" b="0" i="0" dirty="0" err="1">
                <a:solidFill>
                  <a:srgbClr val="5D6D7E"/>
                </a:solidFill>
                <a:latin typeface="Calibri"/>
              </a:rPr>
              <a:t>utilisent</a:t>
            </a:r>
            <a:r>
              <a:rPr sz="1500" b="0" i="0" dirty="0">
                <a:solidFill>
                  <a:srgbClr val="5D6D7E"/>
                </a:solidFill>
                <a:latin typeface="Calibri"/>
              </a:rPr>
              <a:t> des APIs cloud ;</a:t>
            </a:r>
          </a:p>
          <a:p>
            <a:pPr lvl="1">
              <a:spcAft>
                <a:spcPts val="600"/>
              </a:spcAft>
            </a:pPr>
            <a:r>
              <a:rPr sz="1500" b="0" i="0" dirty="0">
                <a:solidFill>
                  <a:srgbClr val="5D6D7E"/>
                </a:solidFill>
                <a:latin typeface="Calibri"/>
              </a:rPr>
              <a:t>–  </a:t>
            </a:r>
            <a:r>
              <a:rPr sz="1500" b="0" i="0" dirty="0" err="1">
                <a:solidFill>
                  <a:srgbClr val="5D6D7E"/>
                </a:solidFill>
                <a:latin typeface="Calibri"/>
              </a:rPr>
              <a:t>intégration</a:t>
            </a:r>
            <a:r>
              <a:rPr sz="1500" b="0" i="0" dirty="0">
                <a:solidFill>
                  <a:srgbClr val="5D6D7E"/>
                </a:solidFill>
                <a:latin typeface="Calibri"/>
              </a:rPr>
              <a:t> </a:t>
            </a:r>
            <a:r>
              <a:rPr sz="1500" b="0" i="0" dirty="0" err="1">
                <a:solidFill>
                  <a:srgbClr val="5D6D7E"/>
                </a:solidFill>
                <a:latin typeface="Calibri"/>
              </a:rPr>
              <a:t>combinée</a:t>
            </a:r>
            <a:r>
              <a:rPr sz="1500" b="0" i="0" dirty="0">
                <a:solidFill>
                  <a:srgbClr val="5D6D7E"/>
                </a:solidFill>
                <a:latin typeface="Calibri"/>
              </a:rPr>
              <a:t> </a:t>
            </a:r>
            <a:r>
              <a:rPr sz="1500" b="0" i="0" dirty="0" err="1">
                <a:solidFill>
                  <a:srgbClr val="5D6D7E"/>
                </a:solidFill>
                <a:latin typeface="Calibri"/>
              </a:rPr>
              <a:t>HyDE</a:t>
            </a:r>
            <a:r>
              <a:rPr sz="1500" b="0" i="0" dirty="0">
                <a:solidFill>
                  <a:srgbClr val="5D6D7E"/>
                </a:solidFill>
                <a:latin typeface="Calibri"/>
              </a:rPr>
              <a:t> + reranking, </a:t>
            </a:r>
            <a:r>
              <a:rPr sz="1500" b="0" i="0" dirty="0" err="1">
                <a:solidFill>
                  <a:srgbClr val="5D6D7E"/>
                </a:solidFill>
                <a:latin typeface="Calibri"/>
              </a:rPr>
              <a:t>rarement</a:t>
            </a:r>
            <a:r>
              <a:rPr sz="1500" b="0" i="0" dirty="0">
                <a:solidFill>
                  <a:srgbClr val="5D6D7E"/>
                </a:solidFill>
                <a:latin typeface="Calibri"/>
              </a:rPr>
              <a:t> </a:t>
            </a:r>
            <a:r>
              <a:rPr sz="1500" b="0" i="0" dirty="0" err="1">
                <a:solidFill>
                  <a:srgbClr val="5D6D7E"/>
                </a:solidFill>
                <a:latin typeface="Calibri"/>
              </a:rPr>
              <a:t>testée</a:t>
            </a:r>
            <a:r>
              <a:rPr sz="1500" b="0" i="0" dirty="0">
                <a:solidFill>
                  <a:srgbClr val="5D6D7E"/>
                </a:solidFill>
                <a:latin typeface="Calibri"/>
              </a:rPr>
              <a:t> et </a:t>
            </a:r>
            <a:r>
              <a:rPr sz="1500" b="0" i="0" dirty="0" err="1">
                <a:solidFill>
                  <a:srgbClr val="5D6D7E"/>
                </a:solidFill>
                <a:latin typeface="Calibri"/>
              </a:rPr>
              <a:t>mesurée</a:t>
            </a:r>
            <a:r>
              <a:rPr sz="1500" b="0" i="0" dirty="0">
                <a:solidFill>
                  <a:srgbClr val="5D6D7E"/>
                </a:solidFill>
                <a:latin typeface="Calibri"/>
              </a:rPr>
              <a:t> ensemble ;</a:t>
            </a:r>
          </a:p>
          <a:p>
            <a:pPr lvl="1">
              <a:spcAft>
                <a:spcPts val="600"/>
              </a:spcAft>
            </a:pPr>
            <a:r>
              <a:rPr sz="1500" b="0" i="0" dirty="0">
                <a:solidFill>
                  <a:srgbClr val="5D6D7E"/>
                </a:solidFill>
                <a:latin typeface="Calibri"/>
              </a:rPr>
              <a:t>–  </a:t>
            </a:r>
            <a:r>
              <a:rPr sz="1500" b="0" i="0" dirty="0" err="1">
                <a:solidFill>
                  <a:srgbClr val="5D6D7E"/>
                </a:solidFill>
                <a:latin typeface="Calibri"/>
              </a:rPr>
              <a:t>spécialisation</a:t>
            </a:r>
            <a:r>
              <a:rPr sz="1500" b="0" i="0" dirty="0">
                <a:solidFill>
                  <a:srgbClr val="5D6D7E"/>
                </a:solidFill>
                <a:latin typeface="Calibri"/>
              </a:rPr>
              <a:t> sur le </a:t>
            </a:r>
            <a:r>
              <a:rPr sz="1500" b="0" i="0" dirty="0" err="1">
                <a:solidFill>
                  <a:srgbClr val="5D6D7E"/>
                </a:solidFill>
                <a:latin typeface="Calibri"/>
              </a:rPr>
              <a:t>juridique</a:t>
            </a:r>
            <a:r>
              <a:rPr sz="1500" b="0" i="0" dirty="0">
                <a:solidFill>
                  <a:srgbClr val="5D6D7E"/>
                </a:solidFill>
                <a:latin typeface="Calibri"/>
              </a:rPr>
              <a:t> francophone marocain (Bulletin </a:t>
            </a:r>
            <a:r>
              <a:rPr sz="1500" b="0" i="0" dirty="0" err="1">
                <a:solidFill>
                  <a:srgbClr val="5D6D7E"/>
                </a:solidFill>
                <a:latin typeface="Calibri"/>
              </a:rPr>
              <a:t>Officiel</a:t>
            </a:r>
            <a:r>
              <a:rPr sz="1500" b="0" i="0" dirty="0">
                <a:solidFill>
                  <a:srgbClr val="5D6D7E"/>
                </a:solidFill>
                <a:latin typeface="Calibri"/>
              </a:rPr>
              <a:t>), peu </a:t>
            </a:r>
            <a:r>
              <a:rPr sz="1500" b="0" i="0" dirty="0" err="1">
                <a:solidFill>
                  <a:srgbClr val="5D6D7E"/>
                </a:solidFill>
                <a:latin typeface="Calibri"/>
              </a:rPr>
              <a:t>couvert</a:t>
            </a:r>
            <a:r>
              <a:rPr sz="1500" b="0" i="0" dirty="0">
                <a:solidFill>
                  <a:srgbClr val="5D6D7E"/>
                </a:solidFill>
                <a:latin typeface="Calibri"/>
              </a:rPr>
              <a:t>.</a:t>
            </a:r>
          </a:p>
          <a:p>
            <a:pPr>
              <a:spcAft>
                <a:spcPts val="600"/>
              </a:spcAft>
            </a:pPr>
            <a:r>
              <a:rPr sz="1600" b="0" i="0" dirty="0">
                <a:solidFill>
                  <a:srgbClr val="2B2B2B"/>
                </a:solidFill>
                <a:latin typeface="Calibri"/>
              </a:rPr>
              <a:t>•  Apport : un pipeline souverain de bout </a:t>
            </a:r>
            <a:r>
              <a:rPr sz="1600" b="0" i="0" dirty="0" err="1">
                <a:solidFill>
                  <a:srgbClr val="2B2B2B"/>
                </a:solidFill>
                <a:latin typeface="Calibri"/>
              </a:rPr>
              <a:t>en</a:t>
            </a:r>
            <a:r>
              <a:rPr sz="1600" b="0" i="0" dirty="0">
                <a:solidFill>
                  <a:srgbClr val="2B2B2B"/>
                </a:solidFill>
                <a:latin typeface="Calibri"/>
              </a:rPr>
              <a:t> bout + un splitter </a:t>
            </a:r>
            <a:r>
              <a:rPr sz="1600" b="0" i="0" dirty="0" err="1">
                <a:solidFill>
                  <a:srgbClr val="2B2B2B"/>
                </a:solidFill>
                <a:latin typeface="Calibri"/>
              </a:rPr>
              <a:t>juridique</a:t>
            </a:r>
            <a:r>
              <a:rPr sz="1600" b="0" i="0" dirty="0">
                <a:solidFill>
                  <a:srgbClr val="2B2B2B"/>
                </a:solidFill>
                <a:latin typeface="Calibri"/>
              </a:rPr>
              <a:t> + </a:t>
            </a:r>
            <a:r>
              <a:rPr sz="1600" b="0" i="0" dirty="0" err="1">
                <a:solidFill>
                  <a:srgbClr val="2B2B2B"/>
                </a:solidFill>
                <a:latin typeface="Calibri"/>
              </a:rPr>
              <a:t>une</a:t>
            </a:r>
            <a:r>
              <a:rPr sz="1600" b="0" i="0" dirty="0">
                <a:solidFill>
                  <a:srgbClr val="2B2B2B"/>
                </a:solidFill>
                <a:latin typeface="Calibri"/>
              </a:rPr>
              <a:t> étude </a:t>
            </a:r>
            <a:r>
              <a:rPr sz="1600" b="0" i="0" dirty="0" err="1">
                <a:solidFill>
                  <a:srgbClr val="2B2B2B"/>
                </a:solidFill>
                <a:latin typeface="Calibri"/>
              </a:rPr>
              <a:t>d'ablation</a:t>
            </a:r>
            <a:r>
              <a:rPr sz="1600" b="0" i="0" dirty="0">
                <a:solidFill>
                  <a:srgbClr val="2B2B2B"/>
                </a:solidFill>
                <a:latin typeface="Calibri"/>
              </a:rPr>
              <a:t> et un </a:t>
            </a:r>
            <a:r>
              <a:rPr sz="1600" b="0" i="0" dirty="0" err="1">
                <a:solidFill>
                  <a:srgbClr val="2B2B2B"/>
                </a:solidFill>
                <a:latin typeface="Calibri"/>
              </a:rPr>
              <a:t>protocole</a:t>
            </a:r>
            <a:r>
              <a:rPr sz="1600" b="0" i="0" dirty="0">
                <a:solidFill>
                  <a:srgbClr val="2B2B2B"/>
                </a:solidFill>
                <a:latin typeface="Calibri"/>
              </a:rPr>
              <a:t> </a:t>
            </a:r>
            <a:r>
              <a:rPr sz="1600" b="0" i="0" dirty="0" err="1">
                <a:solidFill>
                  <a:srgbClr val="2B2B2B"/>
                </a:solidFill>
                <a:latin typeface="Calibri"/>
              </a:rPr>
              <a:t>d'évaluation</a:t>
            </a:r>
            <a:r>
              <a:rPr sz="1600" b="0" i="0" dirty="0">
                <a:solidFill>
                  <a:srgbClr val="2B2B2B"/>
                </a:solidFill>
                <a:latin typeface="Calibri"/>
              </a:rPr>
              <a:t> sur corpus </a:t>
            </a:r>
            <a:r>
              <a:rPr sz="1600" b="0" i="0" dirty="0" err="1">
                <a:solidFill>
                  <a:srgbClr val="2B2B2B"/>
                </a:solidFill>
                <a:latin typeface="Calibri"/>
              </a:rPr>
              <a:t>réel</a:t>
            </a:r>
            <a:r>
              <a:rPr sz="1600" b="0" i="0" dirty="0">
                <a:solidFill>
                  <a:srgbClr val="2B2B2B"/>
                </a:solidFill>
                <a:latin typeface="Calibri"/>
              </a:rPr>
              <a:t>.</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8 / 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2 · 2.1</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Architecture globale du pipeline</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11480" y="2468880"/>
            <a:ext cx="2136038" cy="12801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1. Ingestion</a:t>
            </a:r>
          </a:p>
          <a:p>
            <a:pPr algn="ctr"/>
            <a:r>
              <a:rPr sz="1000" b="0" i="0">
                <a:solidFill>
                  <a:srgbClr val="FFFFFF"/>
                </a:solidFill>
                <a:latin typeface="Calibri"/>
              </a:rPr>
              <a:t>Crawl + PDF</a:t>
            </a:r>
          </a:p>
        </p:txBody>
      </p:sp>
      <p:sp>
        <p:nvSpPr>
          <p:cNvPr id="6" name="Right Arrow 5"/>
          <p:cNvSpPr/>
          <p:nvPr/>
        </p:nvSpPr>
        <p:spPr>
          <a:xfrm>
            <a:off x="2542945" y="2907792"/>
            <a:ext cx="164592" cy="411480"/>
          </a:xfrm>
          <a:prstGeom prst="rightArrow">
            <a:avLst/>
          </a:prstGeom>
          <a:solidFill>
            <a:srgbClr val="B5B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712110" y="2468880"/>
            <a:ext cx="2136038" cy="12801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2. Extraction</a:t>
            </a:r>
          </a:p>
          <a:p>
            <a:pPr algn="ctr"/>
            <a:r>
              <a:rPr sz="1000" b="0" i="0">
                <a:solidFill>
                  <a:srgbClr val="FFFFFF"/>
                </a:solidFill>
                <a:latin typeface="Calibri"/>
              </a:rPr>
              <a:t>Docling →
Markdown</a:t>
            </a:r>
          </a:p>
        </p:txBody>
      </p:sp>
      <p:sp>
        <p:nvSpPr>
          <p:cNvPr id="8" name="Right Arrow 7"/>
          <p:cNvSpPr/>
          <p:nvPr/>
        </p:nvSpPr>
        <p:spPr>
          <a:xfrm>
            <a:off x="4852720" y="2907792"/>
            <a:ext cx="164592" cy="411480"/>
          </a:xfrm>
          <a:prstGeom prst="rightArrow">
            <a:avLst/>
          </a:prstGeom>
          <a:solidFill>
            <a:srgbClr val="B5B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12740" y="2468880"/>
            <a:ext cx="2136038" cy="128016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3. Indexation</a:t>
            </a:r>
          </a:p>
          <a:p>
            <a:pPr algn="ctr"/>
            <a:r>
              <a:rPr sz="1000" b="0" i="0">
                <a:solidFill>
                  <a:srgbClr val="FFFFFF"/>
                </a:solidFill>
                <a:latin typeface="Calibri"/>
              </a:rPr>
              <a:t>Splitter +
bge-m3 · pgvector</a:t>
            </a:r>
          </a:p>
        </p:txBody>
      </p:sp>
      <p:sp>
        <p:nvSpPr>
          <p:cNvPr id="10" name="Right Arrow 9"/>
          <p:cNvSpPr/>
          <p:nvPr/>
        </p:nvSpPr>
        <p:spPr>
          <a:xfrm>
            <a:off x="7178082" y="2907792"/>
            <a:ext cx="164592" cy="411480"/>
          </a:xfrm>
          <a:prstGeom prst="rightArrow">
            <a:avLst/>
          </a:prstGeom>
          <a:solidFill>
            <a:srgbClr val="B5B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3371" y="2468880"/>
            <a:ext cx="2136038" cy="128016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4. Recherche</a:t>
            </a:r>
          </a:p>
          <a:p>
            <a:pPr algn="ctr"/>
            <a:r>
              <a:rPr sz="1000" b="0" i="0">
                <a:solidFill>
                  <a:srgbClr val="FFFFFF"/>
                </a:solidFill>
                <a:latin typeface="Calibri"/>
              </a:rPr>
              <a:t>HyDE + rerank
+ génération</a:t>
            </a:r>
          </a:p>
        </p:txBody>
      </p:sp>
      <p:sp>
        <p:nvSpPr>
          <p:cNvPr id="12" name="Right Arrow 11"/>
          <p:cNvSpPr/>
          <p:nvPr/>
        </p:nvSpPr>
        <p:spPr>
          <a:xfrm>
            <a:off x="9477450" y="2907792"/>
            <a:ext cx="164592" cy="411480"/>
          </a:xfrm>
          <a:prstGeom prst="rightArrow">
            <a:avLst/>
          </a:prstGeom>
          <a:solidFill>
            <a:srgbClr val="B5B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614001" y="2468880"/>
            <a:ext cx="2136038" cy="1280160"/>
          </a:xfrm>
          <a:prstGeom prst="round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5. Conversation</a:t>
            </a:r>
          </a:p>
          <a:p>
            <a:pPr algn="ctr"/>
            <a:r>
              <a:rPr sz="1000" b="0" i="0">
                <a:solidFill>
                  <a:srgbClr val="FFFFFF"/>
                </a:solidFill>
                <a:latin typeface="Calibri"/>
              </a:rPr>
              <a:t>Historique
glissant</a:t>
            </a:r>
          </a:p>
        </p:txBody>
      </p:sp>
      <p:sp>
        <p:nvSpPr>
          <p:cNvPr id="14" name="TextBox 13"/>
          <p:cNvSpPr txBox="1"/>
          <p:nvPr/>
        </p:nvSpPr>
        <p:spPr>
          <a:xfrm>
            <a:off x="640080" y="4206240"/>
            <a:ext cx="10972800" cy="4663440"/>
          </a:xfrm>
          <a:prstGeom prst="rect">
            <a:avLst/>
          </a:prstGeom>
          <a:noFill/>
        </p:spPr>
        <p:txBody>
          <a:bodyPr wrap="square" anchor="t">
            <a:spAutoFit/>
          </a:bodyPr>
          <a:lstStyle/>
          <a:p>
            <a:pPr>
              <a:spcAft>
                <a:spcPts val="600"/>
              </a:spcAft>
            </a:pPr>
            <a:r>
              <a:rPr sz="1500" b="0" i="0" dirty="0">
                <a:solidFill>
                  <a:srgbClr val="2B2B2B"/>
                </a:solidFill>
                <a:latin typeface="Calibri"/>
              </a:rPr>
              <a:t>•  Cinq phases </a:t>
            </a:r>
            <a:r>
              <a:rPr sz="1500" b="0" i="0" dirty="0" err="1">
                <a:solidFill>
                  <a:srgbClr val="2B2B2B"/>
                </a:solidFill>
                <a:latin typeface="Calibri"/>
              </a:rPr>
              <a:t>séquentielles</a:t>
            </a:r>
            <a:r>
              <a:rPr sz="1500" b="0" i="0" dirty="0">
                <a:solidFill>
                  <a:srgbClr val="2B2B2B"/>
                </a:solidFill>
                <a:latin typeface="Calibri"/>
              </a:rPr>
              <a:t>, </a:t>
            </a:r>
            <a:r>
              <a:rPr sz="1500" b="0" i="0" dirty="0" err="1">
                <a:solidFill>
                  <a:srgbClr val="2B2B2B"/>
                </a:solidFill>
                <a:latin typeface="Calibri"/>
              </a:rPr>
              <a:t>découplées</a:t>
            </a:r>
            <a:r>
              <a:rPr sz="1500" b="0" i="0" dirty="0">
                <a:solidFill>
                  <a:srgbClr val="2B2B2B"/>
                </a:solidFill>
                <a:latin typeface="Calibri"/>
              </a:rPr>
              <a:t> par </a:t>
            </a:r>
            <a:r>
              <a:rPr sz="1500" b="0" i="0" dirty="0" err="1">
                <a:solidFill>
                  <a:srgbClr val="2B2B2B"/>
                </a:solidFill>
                <a:latin typeface="Calibri"/>
              </a:rPr>
              <a:t>une</a:t>
            </a:r>
            <a:r>
              <a:rPr sz="1500" b="0" i="0" dirty="0">
                <a:solidFill>
                  <a:srgbClr val="2B2B2B"/>
                </a:solidFill>
                <a:latin typeface="Calibri"/>
              </a:rPr>
              <a:t> base de données centrale.</a:t>
            </a:r>
          </a:p>
          <a:p>
            <a:pPr>
              <a:spcAft>
                <a:spcPts val="600"/>
              </a:spcAft>
            </a:pPr>
            <a:r>
              <a:rPr sz="1500" b="0" i="0" dirty="0">
                <a:solidFill>
                  <a:srgbClr val="2B2B2B"/>
                </a:solidFill>
                <a:latin typeface="Calibri"/>
              </a:rPr>
              <a:t>•  </a:t>
            </a:r>
            <a:r>
              <a:rPr sz="1500" b="0" i="0" dirty="0" err="1">
                <a:solidFill>
                  <a:srgbClr val="2B2B2B"/>
                </a:solidFill>
                <a:latin typeface="Calibri"/>
              </a:rPr>
              <a:t>Chaque</a:t>
            </a:r>
            <a:r>
              <a:rPr sz="1500" b="0" i="0" dirty="0">
                <a:solidFill>
                  <a:srgbClr val="2B2B2B"/>
                </a:solidFill>
                <a:latin typeface="Calibri"/>
              </a:rPr>
              <a:t> </a:t>
            </a:r>
            <a:r>
              <a:rPr sz="1500" b="0" i="0" dirty="0" err="1">
                <a:solidFill>
                  <a:srgbClr val="2B2B2B"/>
                </a:solidFill>
                <a:latin typeface="Calibri"/>
              </a:rPr>
              <a:t>composant</a:t>
            </a:r>
            <a:r>
              <a:rPr sz="1500" b="0" i="0" dirty="0">
                <a:solidFill>
                  <a:srgbClr val="2B2B2B"/>
                </a:solidFill>
                <a:latin typeface="Calibri"/>
              </a:rPr>
              <a:t> </a:t>
            </a:r>
            <a:r>
              <a:rPr sz="1500" b="0" i="0" dirty="0" err="1">
                <a:solidFill>
                  <a:srgbClr val="2B2B2B"/>
                </a:solidFill>
                <a:latin typeface="Calibri"/>
              </a:rPr>
              <a:t>implémente</a:t>
            </a:r>
            <a:r>
              <a:rPr sz="1500" b="0" i="0" dirty="0">
                <a:solidFill>
                  <a:srgbClr val="2B2B2B"/>
                </a:solidFill>
                <a:latin typeface="Calibri"/>
              </a:rPr>
              <a:t> </a:t>
            </a:r>
            <a:r>
              <a:rPr sz="1500" b="0" i="0" dirty="0" err="1">
                <a:solidFill>
                  <a:srgbClr val="2B2B2B"/>
                </a:solidFill>
                <a:latin typeface="Calibri"/>
              </a:rPr>
              <a:t>une</a:t>
            </a:r>
            <a:r>
              <a:rPr sz="1500" b="0" i="0" dirty="0">
                <a:solidFill>
                  <a:srgbClr val="2B2B2B"/>
                </a:solidFill>
                <a:latin typeface="Calibri"/>
              </a:rPr>
              <a:t> interface </a:t>
            </a:r>
            <a:r>
              <a:rPr sz="1500" b="0" i="0" dirty="0" err="1">
                <a:solidFill>
                  <a:srgbClr val="2B2B2B"/>
                </a:solidFill>
                <a:latin typeface="Calibri"/>
              </a:rPr>
              <a:t>abstraite</a:t>
            </a:r>
            <a:r>
              <a:rPr sz="1500" b="0" i="0" dirty="0">
                <a:solidFill>
                  <a:srgbClr val="2B2B2B"/>
                </a:solidFill>
                <a:latin typeface="Calibri"/>
              </a:rPr>
              <a:t> → </a:t>
            </a:r>
            <a:r>
              <a:rPr sz="1500" b="0" i="0" dirty="0" err="1">
                <a:solidFill>
                  <a:srgbClr val="2B2B2B"/>
                </a:solidFill>
                <a:latin typeface="Calibri"/>
              </a:rPr>
              <a:t>modèles</a:t>
            </a:r>
            <a:r>
              <a:rPr sz="1500" b="0" i="0" dirty="0">
                <a:solidFill>
                  <a:srgbClr val="2B2B2B"/>
                </a:solidFill>
                <a:latin typeface="Calibri"/>
              </a:rPr>
              <a:t> </a:t>
            </a:r>
            <a:r>
              <a:rPr sz="1500" b="0" i="0" dirty="0" err="1">
                <a:solidFill>
                  <a:srgbClr val="2B2B2B"/>
                </a:solidFill>
                <a:latin typeface="Calibri"/>
              </a:rPr>
              <a:t>interchangeables</a:t>
            </a:r>
            <a:r>
              <a:rPr sz="1500" b="0" i="0" dirty="0">
                <a:solidFill>
                  <a:srgbClr val="2B2B2B"/>
                </a:solidFill>
                <a:latin typeface="Calibri"/>
              </a:rPr>
              <a:t>.</a:t>
            </a:r>
          </a:p>
          <a:p>
            <a:pPr>
              <a:spcAft>
                <a:spcPts val="600"/>
              </a:spcAft>
            </a:pPr>
            <a:r>
              <a:rPr sz="1500" b="0" i="0" dirty="0">
                <a:solidFill>
                  <a:srgbClr val="2B2B2B"/>
                </a:solidFill>
                <a:latin typeface="Calibri"/>
              </a:rPr>
              <a:t>•  Les phases 3 et 4 (</a:t>
            </a:r>
            <a:r>
              <a:rPr sz="1500" b="0" i="0" dirty="0" err="1">
                <a:solidFill>
                  <a:srgbClr val="2B2B2B"/>
                </a:solidFill>
                <a:latin typeface="Calibri"/>
              </a:rPr>
              <a:t>en</a:t>
            </a:r>
            <a:r>
              <a:rPr sz="1500" b="0" i="0" dirty="0">
                <a:solidFill>
                  <a:srgbClr val="2B2B2B"/>
                </a:solidFill>
                <a:latin typeface="Calibri"/>
              </a:rPr>
              <a:t> bleu) portent les contributions </a:t>
            </a:r>
            <a:r>
              <a:rPr sz="1500" b="0" i="0" dirty="0" err="1">
                <a:solidFill>
                  <a:srgbClr val="2B2B2B"/>
                </a:solidFill>
                <a:latin typeface="Calibri"/>
              </a:rPr>
              <a:t>méthodologiques</a:t>
            </a:r>
            <a:r>
              <a:rPr sz="1500" b="0" i="0" dirty="0">
                <a:solidFill>
                  <a:srgbClr val="2B2B2B"/>
                </a:solidFill>
                <a:latin typeface="Calibri"/>
              </a:rPr>
              <a:t>.</a:t>
            </a:r>
          </a:p>
        </p:txBody>
      </p:sp>
      <p:cxnSp>
        <p:nvCxnSpPr>
          <p:cNvPr id="15" name="Connector 14"/>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17" name="TextBox 16"/>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9 / 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2 · 2.2</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Segmentation du corpus juridique marocain</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508760"/>
            <a:ext cx="10972800" cy="4663440"/>
          </a:xfrm>
          <a:prstGeom prst="rect">
            <a:avLst/>
          </a:prstGeom>
          <a:noFill/>
        </p:spPr>
        <p:txBody>
          <a:bodyPr wrap="square" anchor="t">
            <a:spAutoFit/>
          </a:bodyPr>
          <a:lstStyle/>
          <a:p>
            <a:pPr>
              <a:spcAft>
                <a:spcPts val="600"/>
              </a:spcAft>
            </a:pPr>
            <a:r>
              <a:rPr sz="1500" b="0" i="0" dirty="0">
                <a:solidFill>
                  <a:srgbClr val="2B2B2B"/>
                </a:solidFill>
                <a:latin typeface="Calibri"/>
              </a:rPr>
              <a:t>•  Le Bulletin </a:t>
            </a:r>
            <a:r>
              <a:rPr sz="1500" b="0" i="0" dirty="0" err="1">
                <a:solidFill>
                  <a:srgbClr val="2B2B2B"/>
                </a:solidFill>
                <a:latin typeface="Calibri"/>
              </a:rPr>
              <a:t>Officiel</a:t>
            </a:r>
            <a:r>
              <a:rPr sz="1500" b="0" i="0" dirty="0">
                <a:solidFill>
                  <a:srgbClr val="2B2B2B"/>
                </a:solidFill>
                <a:latin typeface="Calibri"/>
              </a:rPr>
              <a:t> a </a:t>
            </a:r>
            <a:r>
              <a:rPr sz="1500" b="0" i="0" dirty="0" err="1">
                <a:solidFill>
                  <a:srgbClr val="2B2B2B"/>
                </a:solidFill>
                <a:latin typeface="Calibri"/>
              </a:rPr>
              <a:t>une</a:t>
            </a:r>
            <a:r>
              <a:rPr sz="1500" b="0" i="0" dirty="0">
                <a:solidFill>
                  <a:srgbClr val="2B2B2B"/>
                </a:solidFill>
                <a:latin typeface="Calibri"/>
              </a:rPr>
              <a:t> </a:t>
            </a:r>
            <a:r>
              <a:rPr sz="1500" b="0" i="0" dirty="0" err="1">
                <a:solidFill>
                  <a:srgbClr val="2B2B2B"/>
                </a:solidFill>
                <a:latin typeface="Calibri"/>
              </a:rPr>
              <a:t>hiérarchie</a:t>
            </a:r>
            <a:r>
              <a:rPr sz="1500" b="0" i="0" dirty="0">
                <a:solidFill>
                  <a:srgbClr val="2B2B2B"/>
                </a:solidFill>
                <a:latin typeface="Calibri"/>
              </a:rPr>
              <a:t> (Dahir &gt; Loi &gt; </a:t>
            </a:r>
            <a:r>
              <a:rPr sz="1500" b="0" i="0" dirty="0" err="1">
                <a:solidFill>
                  <a:srgbClr val="2B2B2B"/>
                </a:solidFill>
                <a:latin typeface="Calibri"/>
              </a:rPr>
              <a:t>Titre</a:t>
            </a:r>
            <a:r>
              <a:rPr sz="1500" b="0" i="0" dirty="0">
                <a:solidFill>
                  <a:srgbClr val="2B2B2B"/>
                </a:solidFill>
                <a:latin typeface="Calibri"/>
              </a:rPr>
              <a:t> &gt; </a:t>
            </a:r>
            <a:r>
              <a:rPr sz="1500" b="0" i="0" dirty="0" err="1">
                <a:solidFill>
                  <a:srgbClr val="2B2B2B"/>
                </a:solidFill>
                <a:latin typeface="Calibri"/>
              </a:rPr>
              <a:t>Chapitre</a:t>
            </a:r>
            <a:r>
              <a:rPr sz="1500" b="0" i="0" dirty="0">
                <a:solidFill>
                  <a:srgbClr val="2B2B2B"/>
                </a:solidFill>
                <a:latin typeface="Calibri"/>
              </a:rPr>
              <a:t> &gt; Article) </a:t>
            </a:r>
            <a:r>
              <a:rPr sz="1500" b="0" i="0" dirty="0" err="1">
                <a:solidFill>
                  <a:srgbClr val="2B2B2B"/>
                </a:solidFill>
                <a:latin typeface="Calibri"/>
              </a:rPr>
              <a:t>encodée</a:t>
            </a:r>
            <a:r>
              <a:rPr sz="1500" b="0" i="0" dirty="0">
                <a:solidFill>
                  <a:srgbClr val="2B2B2B"/>
                </a:solidFill>
                <a:latin typeface="Calibri"/>
              </a:rPr>
              <a:t> par la </a:t>
            </a:r>
            <a:r>
              <a:rPr sz="1500" b="0" i="0" dirty="0" err="1">
                <a:solidFill>
                  <a:srgbClr val="2B2B2B"/>
                </a:solidFill>
                <a:latin typeface="Calibri"/>
              </a:rPr>
              <a:t>typographie</a:t>
            </a:r>
            <a:r>
              <a:rPr sz="1500" b="0" i="0" dirty="0">
                <a:solidFill>
                  <a:srgbClr val="2B2B2B"/>
                </a:solidFill>
                <a:latin typeface="Calibri"/>
              </a:rPr>
              <a:t>, non </a:t>
            </a:r>
            <a:r>
              <a:rPr sz="1500" b="0" i="0" dirty="0" err="1">
                <a:solidFill>
                  <a:srgbClr val="2B2B2B"/>
                </a:solidFill>
                <a:latin typeface="Calibri"/>
              </a:rPr>
              <a:t>balisée</a:t>
            </a:r>
            <a:r>
              <a:rPr sz="1500" b="0" i="0" dirty="0">
                <a:solidFill>
                  <a:srgbClr val="2B2B2B"/>
                </a:solidFill>
                <a:latin typeface="Calibri"/>
              </a:rPr>
              <a:t> </a:t>
            </a:r>
            <a:r>
              <a:rPr sz="1500" b="0" i="0" dirty="0" err="1">
                <a:solidFill>
                  <a:srgbClr val="2B2B2B"/>
                </a:solidFill>
                <a:latin typeface="Calibri"/>
              </a:rPr>
              <a:t>informatiquement</a:t>
            </a:r>
            <a:r>
              <a:rPr sz="1500" b="0" i="0" dirty="0">
                <a:solidFill>
                  <a:srgbClr val="2B2B2B"/>
                </a:solidFill>
                <a:latin typeface="Calibri"/>
              </a:rPr>
              <a:t>.</a:t>
            </a:r>
          </a:p>
          <a:p>
            <a:pPr>
              <a:spcAft>
                <a:spcPts val="600"/>
              </a:spcAft>
            </a:pPr>
            <a:r>
              <a:rPr sz="1500" b="0" i="0" dirty="0">
                <a:solidFill>
                  <a:srgbClr val="2B2B2B"/>
                </a:solidFill>
                <a:latin typeface="Calibri"/>
              </a:rPr>
              <a:t>•  </a:t>
            </a:r>
            <a:r>
              <a:rPr sz="1500" b="0" i="0" dirty="0" err="1">
                <a:solidFill>
                  <a:srgbClr val="2B2B2B"/>
                </a:solidFill>
                <a:latin typeface="Calibri"/>
              </a:rPr>
              <a:t>Défis</a:t>
            </a:r>
            <a:r>
              <a:rPr sz="1500" b="0" i="0" dirty="0">
                <a:solidFill>
                  <a:srgbClr val="2B2B2B"/>
                </a:solidFill>
                <a:latin typeface="Calibri"/>
              </a:rPr>
              <a:t> : </a:t>
            </a:r>
            <a:r>
              <a:rPr sz="1500" b="0" i="0" dirty="0" err="1">
                <a:solidFill>
                  <a:srgbClr val="2B2B2B"/>
                </a:solidFill>
                <a:latin typeface="Calibri"/>
              </a:rPr>
              <a:t>discontinuités</a:t>
            </a:r>
            <a:r>
              <a:rPr sz="1500" b="0" i="0" dirty="0">
                <a:solidFill>
                  <a:srgbClr val="2B2B2B"/>
                </a:solidFill>
                <a:latin typeface="Calibri"/>
              </a:rPr>
              <a:t> de </a:t>
            </a:r>
            <a:r>
              <a:rPr sz="1500" b="0" i="0" dirty="0" err="1">
                <a:solidFill>
                  <a:srgbClr val="2B2B2B"/>
                </a:solidFill>
                <a:latin typeface="Calibri"/>
              </a:rPr>
              <a:t>numérotation</a:t>
            </a:r>
            <a:r>
              <a:rPr sz="1500" b="0" i="0" dirty="0">
                <a:solidFill>
                  <a:srgbClr val="2B2B2B"/>
                </a:solidFill>
                <a:latin typeface="Calibri"/>
              </a:rPr>
              <a:t>, </a:t>
            </a:r>
            <a:r>
              <a:rPr sz="1500" b="0" i="0" dirty="0" err="1">
                <a:solidFill>
                  <a:srgbClr val="2B2B2B"/>
                </a:solidFill>
                <a:latin typeface="Calibri"/>
              </a:rPr>
              <a:t>densité</a:t>
            </a:r>
            <a:r>
              <a:rPr sz="1500" b="0" i="0" dirty="0">
                <a:solidFill>
                  <a:srgbClr val="2B2B2B"/>
                </a:solidFill>
                <a:latin typeface="Calibri"/>
              </a:rPr>
              <a:t> variable des articles.</a:t>
            </a:r>
          </a:p>
          <a:p>
            <a:pPr>
              <a:spcAft>
                <a:spcPts val="600"/>
              </a:spcAft>
            </a:pPr>
            <a:r>
              <a:rPr sz="1500" b="0" i="0" dirty="0">
                <a:solidFill>
                  <a:srgbClr val="2B2B2B"/>
                </a:solidFill>
                <a:latin typeface="Calibri"/>
              </a:rPr>
              <a:t>•  Segmentation </a:t>
            </a:r>
            <a:r>
              <a:rPr sz="1500" b="0" i="0" dirty="0" err="1">
                <a:solidFill>
                  <a:srgbClr val="2B2B2B"/>
                </a:solidFill>
                <a:latin typeface="Calibri"/>
              </a:rPr>
              <a:t>sémantique</a:t>
            </a:r>
            <a:r>
              <a:rPr sz="1500" b="0" i="0" dirty="0">
                <a:solidFill>
                  <a:srgbClr val="2B2B2B"/>
                </a:solidFill>
                <a:latin typeface="Calibri"/>
              </a:rPr>
              <a:t> </a:t>
            </a:r>
            <a:r>
              <a:rPr sz="1500" b="0" i="0" dirty="0" err="1">
                <a:solidFill>
                  <a:srgbClr val="2B2B2B"/>
                </a:solidFill>
                <a:latin typeface="Calibri"/>
              </a:rPr>
              <a:t>en</a:t>
            </a:r>
            <a:r>
              <a:rPr sz="1500" b="0" i="0" dirty="0">
                <a:solidFill>
                  <a:srgbClr val="2B2B2B"/>
                </a:solidFill>
                <a:latin typeface="Calibri"/>
              </a:rPr>
              <a:t> deux étapes :</a:t>
            </a:r>
          </a:p>
          <a:p>
            <a:pPr lvl="1">
              <a:spcAft>
                <a:spcPts val="600"/>
              </a:spcAft>
            </a:pPr>
            <a:r>
              <a:rPr sz="1400" b="0" i="0" dirty="0">
                <a:solidFill>
                  <a:srgbClr val="5D6D7E"/>
                </a:solidFill>
                <a:latin typeface="Calibri"/>
              </a:rPr>
              <a:t>–  </a:t>
            </a:r>
            <a:r>
              <a:rPr sz="1400" b="0" i="0" dirty="0" err="1">
                <a:solidFill>
                  <a:srgbClr val="5D6D7E"/>
                </a:solidFill>
                <a:latin typeface="Calibri"/>
              </a:rPr>
              <a:t>normalisation</a:t>
            </a:r>
            <a:r>
              <a:rPr sz="1400" b="0" i="0" dirty="0">
                <a:solidFill>
                  <a:srgbClr val="5D6D7E"/>
                </a:solidFill>
                <a:latin typeface="Calibri"/>
              </a:rPr>
              <a:t> </a:t>
            </a:r>
            <a:r>
              <a:rPr sz="1400" b="0" i="0" dirty="0" err="1">
                <a:solidFill>
                  <a:srgbClr val="5D6D7E"/>
                </a:solidFill>
                <a:latin typeface="Calibri"/>
              </a:rPr>
              <a:t>hiérarchique</a:t>
            </a:r>
            <a:r>
              <a:rPr sz="1400" b="0" i="0" dirty="0">
                <a:solidFill>
                  <a:srgbClr val="5D6D7E"/>
                </a:solidFill>
                <a:latin typeface="Calibri"/>
              </a:rPr>
              <a:t> (_</a:t>
            </a:r>
            <a:r>
              <a:rPr sz="1400" b="0" i="0" dirty="0" err="1">
                <a:solidFill>
                  <a:srgbClr val="5D6D7E"/>
                </a:solidFill>
                <a:latin typeface="Calibri"/>
              </a:rPr>
              <a:t>fix_heading_hierarchy</a:t>
            </a:r>
            <a:r>
              <a:rPr sz="1400" b="0" i="0" dirty="0">
                <a:solidFill>
                  <a:srgbClr val="5D6D7E"/>
                </a:solidFill>
                <a:latin typeface="Calibri"/>
              </a:rPr>
              <a:t> + _KEYWORD_RULES) qui </a:t>
            </a:r>
            <a:r>
              <a:rPr sz="1400" b="0" i="0" dirty="0" err="1">
                <a:solidFill>
                  <a:srgbClr val="5D6D7E"/>
                </a:solidFill>
                <a:latin typeface="Calibri"/>
              </a:rPr>
              <a:t>corrige</a:t>
            </a:r>
            <a:r>
              <a:rPr sz="1400" b="0" i="0" dirty="0">
                <a:solidFill>
                  <a:srgbClr val="5D6D7E"/>
                </a:solidFill>
                <a:latin typeface="Calibri"/>
              </a:rPr>
              <a:t> les </a:t>
            </a:r>
            <a:r>
              <a:rPr sz="1400" b="0" i="0" dirty="0" err="1">
                <a:solidFill>
                  <a:srgbClr val="5D6D7E"/>
                </a:solidFill>
                <a:latin typeface="Calibri"/>
              </a:rPr>
              <a:t>titres</a:t>
            </a:r>
            <a:r>
              <a:rPr sz="1400" b="0" i="0" dirty="0">
                <a:solidFill>
                  <a:srgbClr val="5D6D7E"/>
                </a:solidFill>
                <a:latin typeface="Calibri"/>
              </a:rPr>
              <a:t> extraits par </a:t>
            </a:r>
            <a:r>
              <a:rPr sz="1400" b="0" i="0" dirty="0" err="1">
                <a:solidFill>
                  <a:srgbClr val="5D6D7E"/>
                </a:solidFill>
                <a:latin typeface="Calibri"/>
              </a:rPr>
              <a:t>Docling</a:t>
            </a:r>
            <a:r>
              <a:rPr sz="1400" b="0" i="0" dirty="0">
                <a:solidFill>
                  <a:srgbClr val="5D6D7E"/>
                </a:solidFill>
                <a:latin typeface="Calibri"/>
              </a:rPr>
              <a:t> ;</a:t>
            </a:r>
          </a:p>
          <a:p>
            <a:pPr lvl="1">
              <a:spcAft>
                <a:spcPts val="600"/>
              </a:spcAft>
            </a:pPr>
            <a:r>
              <a:rPr sz="1400" b="0" i="0" dirty="0">
                <a:solidFill>
                  <a:srgbClr val="5D6D7E"/>
                </a:solidFill>
                <a:latin typeface="Calibri"/>
              </a:rPr>
              <a:t>–  </a:t>
            </a:r>
            <a:r>
              <a:rPr sz="1400" b="0" i="0" dirty="0" err="1">
                <a:solidFill>
                  <a:srgbClr val="5D6D7E"/>
                </a:solidFill>
                <a:latin typeface="Calibri"/>
              </a:rPr>
              <a:t>découpage</a:t>
            </a:r>
            <a:r>
              <a:rPr sz="1400" b="0" i="0" dirty="0">
                <a:solidFill>
                  <a:srgbClr val="5D6D7E"/>
                </a:solidFill>
                <a:latin typeface="Calibri"/>
              </a:rPr>
              <a:t> par heading </a:t>
            </a:r>
            <a:r>
              <a:rPr sz="1400" b="0" i="0" dirty="0" err="1">
                <a:solidFill>
                  <a:srgbClr val="5D6D7E"/>
                </a:solidFill>
                <a:latin typeface="Calibri"/>
              </a:rPr>
              <a:t>puis</a:t>
            </a:r>
            <a:r>
              <a:rPr sz="1400" b="0" i="0" dirty="0">
                <a:solidFill>
                  <a:srgbClr val="5D6D7E"/>
                </a:solidFill>
                <a:latin typeface="Calibri"/>
              </a:rPr>
              <a:t> sous-division </a:t>
            </a:r>
            <a:r>
              <a:rPr sz="1400" b="0" i="0" dirty="0" err="1">
                <a:solidFill>
                  <a:srgbClr val="5D6D7E"/>
                </a:solidFill>
                <a:latin typeface="Calibri"/>
              </a:rPr>
              <a:t>récursive</a:t>
            </a:r>
            <a:r>
              <a:rPr sz="1400" b="0" i="0" dirty="0">
                <a:solidFill>
                  <a:srgbClr val="5D6D7E"/>
                </a:solidFill>
                <a:latin typeface="Calibri"/>
              </a:rPr>
              <a:t> (chunk 1500, overlap 300).</a:t>
            </a:r>
          </a:p>
          <a:p>
            <a:pPr>
              <a:spcAft>
                <a:spcPts val="600"/>
              </a:spcAft>
            </a:pPr>
            <a:r>
              <a:rPr sz="1500" b="0" i="0" dirty="0">
                <a:solidFill>
                  <a:srgbClr val="2B2B2B"/>
                </a:solidFill>
                <a:latin typeface="Calibri"/>
              </a:rPr>
              <a:t>•  </a:t>
            </a:r>
            <a:r>
              <a:rPr sz="1500" b="0" i="0" dirty="0" err="1">
                <a:solidFill>
                  <a:srgbClr val="2B2B2B"/>
                </a:solidFill>
                <a:latin typeface="Calibri"/>
              </a:rPr>
              <a:t>Enrichissement</a:t>
            </a:r>
            <a:r>
              <a:rPr sz="1500" b="0" i="0" dirty="0">
                <a:solidFill>
                  <a:srgbClr val="2B2B2B"/>
                </a:solidFill>
                <a:latin typeface="Calibri"/>
              </a:rPr>
              <a:t> par breadcrumbs : </a:t>
            </a:r>
            <a:r>
              <a:rPr sz="1500" b="0" i="0" dirty="0" err="1">
                <a:solidFill>
                  <a:srgbClr val="2B2B2B"/>
                </a:solidFill>
                <a:latin typeface="Calibri"/>
              </a:rPr>
              <a:t>chaque</a:t>
            </a:r>
            <a:r>
              <a:rPr sz="1500" b="0" i="0" dirty="0">
                <a:solidFill>
                  <a:srgbClr val="2B2B2B"/>
                </a:solidFill>
                <a:latin typeface="Calibri"/>
              </a:rPr>
              <a:t> chunk </a:t>
            </a:r>
            <a:r>
              <a:rPr sz="1500" b="0" i="0" dirty="0" err="1">
                <a:solidFill>
                  <a:srgbClr val="2B2B2B"/>
                </a:solidFill>
                <a:latin typeface="Calibri"/>
              </a:rPr>
              <a:t>porte</a:t>
            </a:r>
            <a:r>
              <a:rPr sz="1500" b="0" i="0" dirty="0">
                <a:solidFill>
                  <a:srgbClr val="2B2B2B"/>
                </a:solidFill>
                <a:latin typeface="Calibri"/>
              </a:rPr>
              <a:t> </a:t>
            </a:r>
            <a:r>
              <a:rPr sz="1500" b="0" i="0" dirty="0" err="1">
                <a:solidFill>
                  <a:srgbClr val="2B2B2B"/>
                </a:solidFill>
                <a:latin typeface="Calibri"/>
              </a:rPr>
              <a:t>sa</a:t>
            </a:r>
            <a:r>
              <a:rPr sz="1500" b="0" i="0" dirty="0">
                <a:solidFill>
                  <a:srgbClr val="2B2B2B"/>
                </a:solidFill>
                <a:latin typeface="Calibri"/>
              </a:rPr>
              <a:t> position </a:t>
            </a:r>
            <a:r>
              <a:rPr sz="1500" b="0" i="0" dirty="0" err="1">
                <a:solidFill>
                  <a:srgbClr val="2B2B2B"/>
                </a:solidFill>
                <a:latin typeface="Calibri"/>
              </a:rPr>
              <a:t>hiérarchique</a:t>
            </a:r>
            <a:r>
              <a:rPr sz="1500" b="0" i="0" dirty="0">
                <a:solidFill>
                  <a:srgbClr val="2B2B2B"/>
                </a:solidFill>
                <a:latin typeface="Calibri"/>
              </a:rPr>
              <a:t> </a:t>
            </a:r>
            <a:r>
              <a:rPr sz="1500" b="0" i="0" dirty="0" err="1">
                <a:solidFill>
                  <a:srgbClr val="2B2B2B"/>
                </a:solidFill>
                <a:latin typeface="Calibri"/>
              </a:rPr>
              <a:t>complète</a:t>
            </a:r>
            <a:r>
              <a:rPr sz="1500" b="0" i="0" dirty="0">
                <a:solidFill>
                  <a:srgbClr val="2B2B2B"/>
                </a:solidFill>
                <a:latin typeface="Calibri"/>
              </a:rPr>
              <a:t> → </a:t>
            </a:r>
            <a:r>
              <a:rPr sz="1500" b="0" i="0" dirty="0" err="1">
                <a:solidFill>
                  <a:srgbClr val="2B2B2B"/>
                </a:solidFill>
                <a:latin typeface="Calibri"/>
              </a:rPr>
              <a:t>vecteur</a:t>
            </a:r>
            <a:r>
              <a:rPr sz="1500" b="0" i="0" dirty="0">
                <a:solidFill>
                  <a:srgbClr val="2B2B2B"/>
                </a:solidFill>
                <a:latin typeface="Calibri"/>
              </a:rPr>
              <a:t> </a:t>
            </a:r>
            <a:r>
              <a:rPr sz="1500" b="0" i="0" dirty="0" err="1">
                <a:solidFill>
                  <a:srgbClr val="2B2B2B"/>
                </a:solidFill>
                <a:latin typeface="Calibri"/>
              </a:rPr>
              <a:t>enrichi</a:t>
            </a:r>
            <a:r>
              <a:rPr sz="1500" b="0" i="0" dirty="0">
                <a:solidFill>
                  <a:srgbClr val="2B2B2B"/>
                </a:solidFill>
                <a:latin typeface="Calibri"/>
              </a:rPr>
              <a:t> et </a:t>
            </a:r>
            <a:r>
              <a:rPr sz="1500" b="0" i="0" dirty="0" err="1">
                <a:solidFill>
                  <a:srgbClr val="2B2B2B"/>
                </a:solidFill>
                <a:latin typeface="Calibri"/>
              </a:rPr>
              <a:t>traçabilité</a:t>
            </a:r>
            <a:r>
              <a:rPr sz="1500" b="0" i="0" dirty="0">
                <a:solidFill>
                  <a:srgbClr val="2B2B2B"/>
                </a:solidFill>
                <a:latin typeface="Calibri"/>
              </a:rPr>
              <a:t> de la </a:t>
            </a:r>
            <a:r>
              <a:rPr sz="1500" b="0" i="0" dirty="0" err="1">
                <a:solidFill>
                  <a:srgbClr val="2B2B2B"/>
                </a:solidFill>
                <a:latin typeface="Calibri"/>
              </a:rPr>
              <a:t>réponse</a:t>
            </a:r>
            <a:r>
              <a:rPr sz="1500" b="0" i="0" dirty="0">
                <a:solidFill>
                  <a:srgbClr val="2B2B2B"/>
                </a:solidFill>
                <a:latin typeface="Calibri"/>
              </a:rPr>
              <a:t>.</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10 / 24</a:t>
            </a:r>
          </a:p>
        </p:txBody>
      </p:sp>
    </p:spTree>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2 · 2.2</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dirty="0" err="1">
                <a:solidFill>
                  <a:srgbClr val="1B2A4A"/>
                </a:solidFill>
                <a:latin typeface="Georgia"/>
              </a:rPr>
              <a:t>Algorithme</a:t>
            </a:r>
            <a:r>
              <a:rPr sz="2400" b="1" i="0" dirty="0">
                <a:solidFill>
                  <a:srgbClr val="1B2A4A"/>
                </a:solidFill>
                <a:latin typeface="Georgia"/>
              </a:rPr>
              <a:t> de </a:t>
            </a:r>
            <a:r>
              <a:rPr sz="2400" b="1" i="0" dirty="0" err="1">
                <a:solidFill>
                  <a:srgbClr val="1B2A4A"/>
                </a:solidFill>
                <a:latin typeface="Georgia"/>
              </a:rPr>
              <a:t>normalisation</a:t>
            </a:r>
            <a:r>
              <a:rPr sz="2400" b="1" i="0" dirty="0">
                <a:solidFill>
                  <a:srgbClr val="1B2A4A"/>
                </a:solidFill>
                <a:latin typeface="Georgia"/>
              </a:rPr>
              <a:t> </a:t>
            </a:r>
            <a:r>
              <a:rPr sz="2400" b="1" i="0" dirty="0" err="1">
                <a:solidFill>
                  <a:srgbClr val="1B2A4A"/>
                </a:solidFill>
                <a:latin typeface="Georgia"/>
              </a:rPr>
              <a:t>hiérarchique</a:t>
            </a:r>
            <a:endParaRPr sz="2400" b="1" i="0" dirty="0">
              <a:solidFill>
                <a:srgbClr val="1B2A4A"/>
              </a:solidFill>
              <a:latin typeface="Georgia"/>
            </a:endParaRP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40080" y="1554480"/>
            <a:ext cx="5669280" cy="2651760"/>
          </a:xfrm>
          <a:prstGeom prst="rect">
            <a:avLst/>
          </a:prstGeom>
          <a:solidFill>
            <a:srgbClr val="F2F4F7"/>
          </a:solidFill>
          <a:ln w="9525">
            <a:solidFill>
              <a:srgbClr val="B5BEC9"/>
            </a:solidFill>
          </a:ln>
        </p:spPr>
        <p:style>
          <a:lnRef idx="1">
            <a:schemeClr val="accent1"/>
          </a:lnRef>
          <a:fillRef idx="3">
            <a:schemeClr val="accent1"/>
          </a:fillRef>
          <a:effectRef idx="2">
            <a:schemeClr val="accent1"/>
          </a:effectRef>
          <a:fontRef idx="minor">
            <a:schemeClr val="lt1"/>
          </a:fontRef>
        </p:style>
        <p:txBody>
          <a:bodyPr wrap="square" lIns="164592" tIns="109728" rtlCol="0" anchor="t"/>
          <a:lstStyle/>
          <a:p>
            <a:pPr algn="ctr"/>
            <a:r>
              <a:rPr sz="1200" b="0" i="1" dirty="0">
                <a:solidFill>
                  <a:srgbClr val="5D6D7E"/>
                </a:solidFill>
                <a:latin typeface="Consolas"/>
              </a:rPr>
              <a:t>moroccan_bo_splitter.py</a:t>
            </a:r>
          </a:p>
          <a:p>
            <a:r>
              <a:rPr sz="1200" b="0" i="0" dirty="0">
                <a:solidFill>
                  <a:srgbClr val="1B2A4A"/>
                </a:solidFill>
                <a:latin typeface="Consolas"/>
              </a:rPr>
              <a:t>def _classify(self, text):</a:t>
            </a:r>
          </a:p>
          <a:p>
            <a:r>
              <a:rPr sz="1200" b="0" i="0" dirty="0">
                <a:solidFill>
                  <a:srgbClr val="1B2A4A"/>
                </a:solidFill>
                <a:latin typeface="Consolas"/>
              </a:rPr>
              <a:t>    s = </a:t>
            </a:r>
            <a:r>
              <a:rPr sz="1200" b="0" i="0" dirty="0" err="1">
                <a:solidFill>
                  <a:srgbClr val="1B2A4A"/>
                </a:solidFill>
                <a:latin typeface="Consolas"/>
              </a:rPr>
              <a:t>text.strip</a:t>
            </a:r>
            <a:r>
              <a:rPr sz="1200" b="0" i="0" dirty="0">
                <a:solidFill>
                  <a:srgbClr val="1B2A4A"/>
                </a:solidFill>
                <a:latin typeface="Consolas"/>
              </a:rPr>
              <a:t>()</a:t>
            </a:r>
          </a:p>
          <a:p>
            <a:r>
              <a:rPr sz="1200" b="0" i="0" dirty="0">
                <a:solidFill>
                  <a:srgbClr val="1B2A4A"/>
                </a:solidFill>
                <a:latin typeface="Consolas"/>
              </a:rPr>
              <a:t>    if _</a:t>
            </a:r>
            <a:r>
              <a:rPr sz="1200" b="0" i="0" dirty="0" err="1">
                <a:solidFill>
                  <a:srgbClr val="1B2A4A"/>
                </a:solidFill>
                <a:latin typeface="Consolas"/>
              </a:rPr>
              <a:t>ARTICLE_RE.match</a:t>
            </a:r>
            <a:r>
              <a:rPr sz="1200" b="0" i="0" dirty="0">
                <a:solidFill>
                  <a:srgbClr val="1B2A4A"/>
                </a:solidFill>
                <a:latin typeface="Consolas"/>
              </a:rPr>
              <a:t>(s):</a:t>
            </a:r>
          </a:p>
          <a:p>
            <a:r>
              <a:rPr sz="1200" b="0" i="0" dirty="0">
                <a:solidFill>
                  <a:srgbClr val="1B2A4A"/>
                </a:solidFill>
                <a:latin typeface="Consolas"/>
              </a:rPr>
              <a:t>        return None      </a:t>
            </a:r>
            <a:r>
              <a:rPr sz="1200" b="0" i="1" dirty="0">
                <a:solidFill>
                  <a:srgbClr val="5D6D7E"/>
                </a:solidFill>
                <a:latin typeface="Consolas"/>
              </a:rPr>
              <a:t># article → **gras**</a:t>
            </a:r>
          </a:p>
          <a:p>
            <a:r>
              <a:rPr sz="1200" b="0" i="0" dirty="0">
                <a:solidFill>
                  <a:srgbClr val="1B2A4A"/>
                </a:solidFill>
                <a:latin typeface="Consolas"/>
              </a:rPr>
              <a:t>    for level, pat in _KEYWORD_RULES:</a:t>
            </a:r>
          </a:p>
          <a:p>
            <a:r>
              <a:rPr sz="1200" b="0" i="0" dirty="0">
                <a:solidFill>
                  <a:srgbClr val="1B2A4A"/>
                </a:solidFill>
                <a:latin typeface="Consolas"/>
              </a:rPr>
              <a:t>        if </a:t>
            </a:r>
            <a:r>
              <a:rPr sz="1200" b="0" i="0" dirty="0" err="1">
                <a:solidFill>
                  <a:srgbClr val="1B2A4A"/>
                </a:solidFill>
                <a:latin typeface="Consolas"/>
              </a:rPr>
              <a:t>pat.search</a:t>
            </a:r>
            <a:r>
              <a:rPr sz="1200" b="0" i="0" dirty="0">
                <a:solidFill>
                  <a:srgbClr val="1B2A4A"/>
                </a:solidFill>
                <a:latin typeface="Consolas"/>
              </a:rPr>
              <a:t>(s):</a:t>
            </a:r>
          </a:p>
          <a:p>
            <a:r>
              <a:rPr sz="1200" b="0" i="0" dirty="0">
                <a:solidFill>
                  <a:srgbClr val="1B2A4A"/>
                </a:solidFill>
                <a:latin typeface="Consolas"/>
              </a:rPr>
              <a:t>            return level </a:t>
            </a:r>
            <a:r>
              <a:rPr sz="1200" b="0" i="1" dirty="0">
                <a:solidFill>
                  <a:srgbClr val="5D6D7E"/>
                </a:solidFill>
                <a:latin typeface="Consolas"/>
              </a:rPr>
              <a:t># mot-</a:t>
            </a:r>
            <a:r>
              <a:rPr sz="1200" b="0" i="1" dirty="0" err="1">
                <a:solidFill>
                  <a:srgbClr val="5D6D7E"/>
                </a:solidFill>
                <a:latin typeface="Consolas"/>
              </a:rPr>
              <a:t>clé</a:t>
            </a:r>
            <a:r>
              <a:rPr sz="1200" b="0" i="1" dirty="0">
                <a:solidFill>
                  <a:srgbClr val="5D6D7E"/>
                </a:solidFill>
                <a:latin typeface="Consolas"/>
              </a:rPr>
              <a:t> </a:t>
            </a:r>
            <a:r>
              <a:rPr sz="1200" b="0" i="1" dirty="0" err="1">
                <a:solidFill>
                  <a:srgbClr val="5D6D7E"/>
                </a:solidFill>
                <a:latin typeface="Consolas"/>
              </a:rPr>
              <a:t>légal</a:t>
            </a:r>
            <a:r>
              <a:rPr sz="1200" b="0" i="1" dirty="0">
                <a:solidFill>
                  <a:srgbClr val="5D6D7E"/>
                </a:solidFill>
                <a:latin typeface="Consolas"/>
              </a:rPr>
              <a:t> → </a:t>
            </a:r>
            <a:r>
              <a:rPr sz="1200" b="0" i="1" dirty="0" err="1">
                <a:solidFill>
                  <a:srgbClr val="5D6D7E"/>
                </a:solidFill>
                <a:latin typeface="Consolas"/>
              </a:rPr>
              <a:t>niveau</a:t>
            </a:r>
            <a:endParaRPr sz="1200" b="0" i="1" dirty="0">
              <a:solidFill>
                <a:srgbClr val="5D6D7E"/>
              </a:solidFill>
              <a:latin typeface="Consolas"/>
            </a:endParaRPr>
          </a:p>
          <a:p>
            <a:r>
              <a:rPr sz="1200" b="0" i="0" dirty="0">
                <a:solidFill>
                  <a:srgbClr val="1B2A4A"/>
                </a:solidFill>
                <a:latin typeface="Consolas"/>
              </a:rPr>
              <a:t>    return -1            </a:t>
            </a:r>
            <a:r>
              <a:rPr sz="1200" b="0" i="1" dirty="0">
                <a:solidFill>
                  <a:srgbClr val="5D6D7E"/>
                </a:solidFill>
                <a:latin typeface="Consolas"/>
              </a:rPr>
              <a:t># </a:t>
            </a:r>
            <a:r>
              <a:rPr sz="1200" b="0" i="1" dirty="0" err="1">
                <a:solidFill>
                  <a:srgbClr val="5D6D7E"/>
                </a:solidFill>
                <a:latin typeface="Consolas"/>
              </a:rPr>
              <a:t>titre</a:t>
            </a:r>
            <a:r>
              <a:rPr sz="1200" b="0" i="1" dirty="0">
                <a:solidFill>
                  <a:srgbClr val="5D6D7E"/>
                </a:solidFill>
                <a:latin typeface="Consolas"/>
              </a:rPr>
              <a:t> libre → </a:t>
            </a:r>
            <a:r>
              <a:rPr sz="1200" b="0" i="1" dirty="0" err="1">
                <a:solidFill>
                  <a:srgbClr val="5D6D7E"/>
                </a:solidFill>
                <a:latin typeface="Consolas"/>
              </a:rPr>
              <a:t>contexte</a:t>
            </a:r>
            <a:endParaRPr sz="1200" b="0" i="1" dirty="0">
              <a:solidFill>
                <a:srgbClr val="5D6D7E"/>
              </a:solidFill>
              <a:latin typeface="Consolas"/>
            </a:endParaRPr>
          </a:p>
        </p:txBody>
      </p:sp>
      <p:graphicFrame>
        <p:nvGraphicFramePr>
          <p:cNvPr id="6" name="Table 5"/>
          <p:cNvGraphicFramePr>
            <a:graphicFrameLocks noGrp="1"/>
          </p:cNvGraphicFramePr>
          <p:nvPr/>
        </p:nvGraphicFramePr>
        <p:xfrm>
          <a:off x="6583680" y="1554480"/>
          <a:ext cx="4937760" cy="225552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365760">
                <a:tc>
                  <a:txBody>
                    <a:bodyPr/>
                    <a:lstStyle/>
                    <a:p>
                      <a:r>
                        <a:rPr sz="1200" b="1">
                          <a:solidFill>
                            <a:srgbClr val="FFFFFF"/>
                          </a:solidFill>
                          <a:latin typeface="Calibri"/>
                        </a:rPr>
                        <a:t>Niveau</a:t>
                      </a:r>
                    </a:p>
                  </a:txBody>
                  <a:tcPr/>
                </a:tc>
                <a:tc>
                  <a:txBody>
                    <a:bodyPr/>
                    <a:lstStyle/>
                    <a:p>
                      <a:r>
                        <a:rPr sz="1200" b="1">
                          <a:solidFill>
                            <a:srgbClr val="FFFFFF"/>
                          </a:solidFill>
                          <a:latin typeface="Calibri"/>
                        </a:rPr>
                        <a:t>Mots-clés (extrait)</a:t>
                      </a:r>
                    </a:p>
                  </a:txBody>
                  <a:tcPr/>
                </a:tc>
                <a:extLst>
                  <a:ext uri="{0D108BD9-81ED-4DB2-BD59-A6C34878D82A}">
                    <a16:rowId xmlns:a16="http://schemas.microsoft.com/office/drawing/2014/main" val="10000"/>
                  </a:ext>
                </a:extLst>
              </a:tr>
              <a:tr h="365760">
                <a:tc>
                  <a:txBody>
                    <a:bodyPr/>
                    <a:lstStyle/>
                    <a:p>
                      <a:r>
                        <a:rPr sz="1100" b="0">
                          <a:solidFill>
                            <a:srgbClr val="2B2B2B"/>
                          </a:solidFill>
                          <a:latin typeface="Calibri"/>
                        </a:rPr>
                        <a:t>H1</a:t>
                      </a:r>
                    </a:p>
                  </a:txBody>
                  <a:tcPr/>
                </a:tc>
                <a:tc>
                  <a:txBody>
                    <a:bodyPr/>
                    <a:lstStyle/>
                    <a:p>
                      <a:r>
                        <a:rPr sz="1100" b="0">
                          <a:solidFill>
                            <a:srgbClr val="2B2B2B"/>
                          </a:solidFill>
                          <a:latin typeface="Calibri"/>
                        </a:rPr>
                        <a:t>DAHIR · TEXTES GÉNÉRAUX · SOMMAIRE</a:t>
                      </a:r>
                    </a:p>
                  </a:txBody>
                  <a:tcPr/>
                </a:tc>
                <a:extLst>
                  <a:ext uri="{0D108BD9-81ED-4DB2-BD59-A6C34878D82A}">
                    <a16:rowId xmlns:a16="http://schemas.microsoft.com/office/drawing/2014/main" val="10001"/>
                  </a:ext>
                </a:extLst>
              </a:tr>
              <a:tr h="365760">
                <a:tc>
                  <a:txBody>
                    <a:bodyPr/>
                    <a:lstStyle/>
                    <a:p>
                      <a:r>
                        <a:rPr sz="1100" b="0">
                          <a:solidFill>
                            <a:srgbClr val="2B2B2B"/>
                          </a:solidFill>
                          <a:latin typeface="Calibri"/>
                        </a:rPr>
                        <a:t>H2</a:t>
                      </a:r>
                    </a:p>
                  </a:txBody>
                  <a:tcPr/>
                </a:tc>
                <a:tc>
                  <a:txBody>
                    <a:bodyPr/>
                    <a:lstStyle/>
                    <a:p>
                      <a:r>
                        <a:rPr sz="1100" b="0">
                          <a:solidFill>
                            <a:srgbClr val="2B2B2B"/>
                          </a:solidFill>
                          <a:latin typeface="Calibri"/>
                        </a:rPr>
                        <a:t>Dahir n° · Loi n° · Décret n° · Arrêté</a:t>
                      </a:r>
                    </a:p>
                  </a:txBody>
                  <a:tcPr/>
                </a:tc>
                <a:extLst>
                  <a:ext uri="{0D108BD9-81ED-4DB2-BD59-A6C34878D82A}">
                    <a16:rowId xmlns:a16="http://schemas.microsoft.com/office/drawing/2014/main" val="10002"/>
                  </a:ext>
                </a:extLst>
              </a:tr>
              <a:tr h="365760">
                <a:tc>
                  <a:txBody>
                    <a:bodyPr/>
                    <a:lstStyle/>
                    <a:p>
                      <a:r>
                        <a:rPr sz="1100" b="0">
                          <a:solidFill>
                            <a:srgbClr val="2B2B2B"/>
                          </a:solidFill>
                          <a:latin typeface="Calibri"/>
                        </a:rPr>
                        <a:t>H3</a:t>
                      </a:r>
                    </a:p>
                  </a:txBody>
                  <a:tcPr/>
                </a:tc>
                <a:tc>
                  <a:txBody>
                    <a:bodyPr/>
                    <a:lstStyle/>
                    <a:p>
                      <a:r>
                        <a:rPr sz="1100" b="0">
                          <a:solidFill>
                            <a:srgbClr val="2B2B2B"/>
                          </a:solidFill>
                          <a:latin typeface="Calibri"/>
                        </a:rPr>
                        <a:t>PARTIE · I. II. (romains)</a:t>
                      </a:r>
                    </a:p>
                  </a:txBody>
                  <a:tcPr/>
                </a:tc>
                <a:extLst>
                  <a:ext uri="{0D108BD9-81ED-4DB2-BD59-A6C34878D82A}">
                    <a16:rowId xmlns:a16="http://schemas.microsoft.com/office/drawing/2014/main" val="10003"/>
                  </a:ext>
                </a:extLst>
              </a:tr>
              <a:tr h="365760">
                <a:tc>
                  <a:txBody>
                    <a:bodyPr/>
                    <a:lstStyle/>
                    <a:p>
                      <a:r>
                        <a:rPr sz="1100" b="0">
                          <a:solidFill>
                            <a:srgbClr val="2B2B2B"/>
                          </a:solidFill>
                          <a:latin typeface="Calibri"/>
                        </a:rPr>
                        <a:t>H4</a:t>
                      </a:r>
                    </a:p>
                  </a:txBody>
                  <a:tcPr/>
                </a:tc>
                <a:tc>
                  <a:txBody>
                    <a:bodyPr/>
                    <a:lstStyle/>
                    <a:p>
                      <a:r>
                        <a:rPr sz="1100" b="0">
                          <a:solidFill>
                            <a:srgbClr val="2B2B2B"/>
                          </a:solidFill>
                          <a:latin typeface="Calibri"/>
                        </a:rPr>
                        <a:t>TITRE · 1. 2. (numéros)</a:t>
                      </a:r>
                    </a:p>
                  </a:txBody>
                  <a:tcPr/>
                </a:tc>
                <a:extLst>
                  <a:ext uri="{0D108BD9-81ED-4DB2-BD59-A6C34878D82A}">
                    <a16:rowId xmlns:a16="http://schemas.microsoft.com/office/drawing/2014/main" val="10004"/>
                  </a:ext>
                </a:extLst>
              </a:tr>
              <a:tr h="365760">
                <a:tc>
                  <a:txBody>
                    <a:bodyPr/>
                    <a:lstStyle/>
                    <a:p>
                      <a:r>
                        <a:rPr sz="1100" b="0">
                          <a:solidFill>
                            <a:srgbClr val="2B2B2B"/>
                          </a:solidFill>
                          <a:latin typeface="Calibri"/>
                        </a:rPr>
                        <a:t>H5</a:t>
                      </a:r>
                    </a:p>
                  </a:txBody>
                  <a:tcPr/>
                </a:tc>
                <a:tc>
                  <a:txBody>
                    <a:bodyPr/>
                    <a:lstStyle/>
                    <a:p>
                      <a:r>
                        <a:rPr sz="1100" b="0">
                          <a:solidFill>
                            <a:srgbClr val="2B2B2B"/>
                          </a:solidFill>
                          <a:latin typeface="Calibri"/>
                        </a:rPr>
                        <a:t>Chapitre · a. b. (lettres)</a:t>
                      </a:r>
                    </a:p>
                  </a:txBody>
                  <a:tcPr/>
                </a:tc>
                <a:extLst>
                  <a:ext uri="{0D108BD9-81ED-4DB2-BD59-A6C34878D82A}">
                    <a16:rowId xmlns:a16="http://schemas.microsoft.com/office/drawing/2014/main" val="10005"/>
                  </a:ext>
                </a:extLst>
              </a:tr>
            </a:tbl>
          </a:graphicData>
        </a:graphic>
      </p:graphicFrame>
      <p:sp>
        <p:nvSpPr>
          <p:cNvPr id="7" name="Rectangle 6"/>
          <p:cNvSpPr/>
          <p:nvPr/>
        </p:nvSpPr>
        <p:spPr>
          <a:xfrm>
            <a:off x="640080" y="4389120"/>
            <a:ext cx="10881360" cy="1463040"/>
          </a:xfrm>
          <a:prstGeom prst="rect">
            <a:avLst/>
          </a:prstGeom>
          <a:solidFill>
            <a:srgbClr val="F2F4F7"/>
          </a:solidFill>
          <a:ln w="9525">
            <a:solidFill>
              <a:srgbClr val="B5BEC9"/>
            </a:solidFill>
          </a:ln>
        </p:spPr>
        <p:style>
          <a:lnRef idx="1">
            <a:schemeClr val="accent1"/>
          </a:lnRef>
          <a:fillRef idx="3">
            <a:schemeClr val="accent1"/>
          </a:fillRef>
          <a:effectRef idx="2">
            <a:schemeClr val="accent1"/>
          </a:effectRef>
          <a:fontRef idx="minor">
            <a:schemeClr val="lt1"/>
          </a:fontRef>
        </p:style>
        <p:txBody>
          <a:bodyPr wrap="square" lIns="164592" tIns="109728" rtlCol="0" anchor="t"/>
          <a:lstStyle/>
          <a:p>
            <a:pPr algn="ctr"/>
            <a:r>
              <a:rPr sz="1100" b="0" i="1" dirty="0" err="1">
                <a:solidFill>
                  <a:srgbClr val="5D6D7E"/>
                </a:solidFill>
                <a:latin typeface="Consolas"/>
              </a:rPr>
              <a:t>Exemple</a:t>
            </a:r>
            <a:r>
              <a:rPr sz="1100" b="0" i="1" dirty="0">
                <a:solidFill>
                  <a:srgbClr val="5D6D7E"/>
                </a:solidFill>
                <a:latin typeface="Consolas"/>
              </a:rPr>
              <a:t> de </a:t>
            </a:r>
            <a:r>
              <a:rPr sz="1100" b="0" i="1" dirty="0" err="1">
                <a:solidFill>
                  <a:srgbClr val="5D6D7E"/>
                </a:solidFill>
                <a:latin typeface="Consolas"/>
              </a:rPr>
              <a:t>réécriture</a:t>
            </a:r>
            <a:r>
              <a:rPr sz="1100" b="0" i="1" dirty="0">
                <a:solidFill>
                  <a:srgbClr val="5D6D7E"/>
                </a:solidFill>
                <a:latin typeface="Consolas"/>
              </a:rPr>
              <a:t> des </a:t>
            </a:r>
            <a:r>
              <a:rPr sz="1100" b="0" i="1" dirty="0" err="1">
                <a:solidFill>
                  <a:srgbClr val="5D6D7E"/>
                </a:solidFill>
                <a:latin typeface="Consolas"/>
              </a:rPr>
              <a:t>niveaux</a:t>
            </a:r>
            <a:endParaRPr sz="1100" b="0" i="1" dirty="0">
              <a:solidFill>
                <a:srgbClr val="5D6D7E"/>
              </a:solidFill>
              <a:latin typeface="Consolas"/>
            </a:endParaRPr>
          </a:p>
          <a:p>
            <a:r>
              <a:rPr sz="1100" b="0" i="0" dirty="0">
                <a:solidFill>
                  <a:srgbClr val="1B2A4A"/>
                </a:solidFill>
                <a:latin typeface="Consolas"/>
              </a:rPr>
              <a:t>AVANT (</a:t>
            </a:r>
            <a:r>
              <a:rPr sz="1100" b="0" i="0" dirty="0" err="1">
                <a:solidFill>
                  <a:srgbClr val="1B2A4A"/>
                </a:solidFill>
                <a:latin typeface="Consolas"/>
              </a:rPr>
              <a:t>Docling</a:t>
            </a:r>
            <a:r>
              <a:rPr sz="1100" b="0" i="0" dirty="0">
                <a:solidFill>
                  <a:srgbClr val="1B2A4A"/>
                </a:solidFill>
                <a:latin typeface="Consolas"/>
              </a:rPr>
              <a:t>)        APRÈS (</a:t>
            </a:r>
            <a:r>
              <a:rPr sz="1100" b="0" i="0" dirty="0" err="1">
                <a:solidFill>
                  <a:srgbClr val="1B2A4A"/>
                </a:solidFill>
                <a:latin typeface="Consolas"/>
              </a:rPr>
              <a:t>normalisé</a:t>
            </a:r>
            <a:r>
              <a:rPr sz="1100" b="0" i="0" dirty="0">
                <a:solidFill>
                  <a:srgbClr val="1B2A4A"/>
                </a:solidFill>
                <a:latin typeface="Consolas"/>
              </a:rPr>
              <a:t>)</a:t>
            </a:r>
          </a:p>
          <a:p>
            <a:r>
              <a:rPr sz="1100" b="0" i="1" dirty="0">
                <a:solidFill>
                  <a:srgbClr val="5D6D7E"/>
                </a:solidFill>
                <a:latin typeface="Consolas"/>
              </a:rPr>
              <a:t># Loi n° 15-95     →   ## Loi n° 15-95   (instrument)</a:t>
            </a:r>
          </a:p>
          <a:p>
            <a:r>
              <a:rPr sz="1100" b="0" i="1" dirty="0">
                <a:solidFill>
                  <a:srgbClr val="5D6D7E"/>
                </a:solidFill>
                <a:latin typeface="Consolas"/>
              </a:rPr>
              <a:t># TITRE PREMIER    →   #### TITRE PREMIER (</a:t>
            </a:r>
            <a:r>
              <a:rPr sz="1100" b="0" i="1" dirty="0" err="1">
                <a:solidFill>
                  <a:srgbClr val="5D6D7E"/>
                </a:solidFill>
                <a:latin typeface="Consolas"/>
              </a:rPr>
              <a:t>titre</a:t>
            </a:r>
            <a:r>
              <a:rPr sz="1100" b="0" i="1" dirty="0">
                <a:solidFill>
                  <a:srgbClr val="5D6D7E"/>
                </a:solidFill>
                <a:latin typeface="Consolas"/>
              </a:rPr>
              <a:t>)</a:t>
            </a:r>
          </a:p>
          <a:p>
            <a:r>
              <a:rPr sz="1100" b="0" i="1" dirty="0">
                <a:solidFill>
                  <a:srgbClr val="5D6D7E"/>
                </a:solidFill>
                <a:latin typeface="Consolas"/>
              </a:rPr>
              <a:t># Article 78      →   **Article 78**     (gras)</a:t>
            </a:r>
          </a:p>
        </p:txBody>
      </p:sp>
      <p:cxnSp>
        <p:nvCxnSpPr>
          <p:cNvPr id="8" name="Connector 7"/>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10" name="TextBox 9"/>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11 / 24</a:t>
            </a:r>
          </a:p>
        </p:txBody>
      </p:sp>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2 · 2.3</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Stratégie de recherche : HyDE et reranking</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508760"/>
            <a:ext cx="10972800" cy="4663440"/>
          </a:xfrm>
          <a:prstGeom prst="rect">
            <a:avLst/>
          </a:prstGeom>
          <a:noFill/>
        </p:spPr>
        <p:txBody>
          <a:bodyPr wrap="square" anchor="t">
            <a:spAutoFit/>
          </a:bodyPr>
          <a:lstStyle/>
          <a:p>
            <a:pPr>
              <a:spcAft>
                <a:spcPts val="600"/>
              </a:spcAft>
            </a:pPr>
            <a:r>
              <a:rPr sz="1600" b="0" i="0">
                <a:solidFill>
                  <a:srgbClr val="2B2B2B"/>
                </a:solidFill>
                <a:latin typeface="Calibri"/>
              </a:rPr>
              <a:t>•  Fossé lexical : la question en langage courant et le corpus normatif ont des vecteurs éloignés.</a:t>
            </a:r>
          </a:p>
          <a:p>
            <a:pPr>
              <a:spcAft>
                <a:spcPts val="600"/>
              </a:spcAft>
            </a:pPr>
            <a:r>
              <a:rPr sz="1600" b="0" i="0">
                <a:solidFill>
                  <a:srgbClr val="2B2B2B"/>
                </a:solidFill>
                <a:latin typeface="Calibri"/>
              </a:rPr>
              <a:t>•  HyDE : générer une réponse hypothétique employant le vocabulaire du corpus ; deux pools de récupération (requête + réponse hypothétique) fusionnés et dédoublonnés.</a:t>
            </a:r>
          </a:p>
          <a:p>
            <a:pPr>
              <a:spcAft>
                <a:spcPts val="600"/>
              </a:spcAft>
            </a:pPr>
            <a:r>
              <a:rPr sz="1600" b="0" i="0">
                <a:solidFill>
                  <a:srgbClr val="2B2B2B"/>
                </a:solidFill>
                <a:latin typeface="Calibri"/>
              </a:rPr>
              <a:t>•  Reranking : sur les ~20-30 candidats fusionnés, le cross-encoder ms-marco-MiniLM-L-6-v2 score chaque paire [requête, chunk].</a:t>
            </a:r>
          </a:p>
          <a:p>
            <a:pPr>
              <a:spcAft>
                <a:spcPts val="600"/>
              </a:spcAft>
            </a:pPr>
            <a:r>
              <a:rPr sz="1600" b="0" i="0">
                <a:solidFill>
                  <a:srgbClr val="2B2B2B"/>
                </a:solidFill>
                <a:latin typeface="Calibri"/>
              </a:rPr>
              <a:t>•  Retrieve-then-rerank : le bi-encodeur filtre largement, le cross-encoder affine précisément.</a:t>
            </a:r>
          </a:p>
          <a:p>
            <a:pPr>
              <a:spcAft>
                <a:spcPts val="600"/>
              </a:spcAft>
            </a:pPr>
            <a:r>
              <a:rPr sz="1600" b="0" i="0">
                <a:solidFill>
                  <a:srgbClr val="2B2B2B"/>
                </a:solidFill>
                <a:latin typeface="Calibri"/>
              </a:rPr>
              <a:t>•  HyDE et reranking sont les variables de l'hypothèse H1, isolées par ablation (3.2).</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12 / 24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2 · 2.4</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Modèles candidats et contraintes de sélection</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508760"/>
            <a:ext cx="10972800" cy="4663440"/>
          </a:xfrm>
          <a:prstGeom prst="rect">
            <a:avLst/>
          </a:prstGeom>
          <a:noFill/>
        </p:spPr>
        <p:txBody>
          <a:bodyPr wrap="square" anchor="t">
            <a:spAutoFit/>
          </a:bodyPr>
          <a:lstStyle/>
          <a:p>
            <a:pPr>
              <a:spcAft>
                <a:spcPts val="600"/>
              </a:spcAft>
            </a:pPr>
            <a:r>
              <a:rPr sz="1500" b="0" i="0">
                <a:solidFill>
                  <a:srgbClr val="2B2B2B"/>
                </a:solidFill>
                <a:latin typeface="Calibri"/>
              </a:rPr>
              <a:t>•  Contrainte de souveraineté : modèles open-source, déployables localement (Ollama / HuggingFace), supportant le français.</a:t>
            </a:r>
          </a:p>
          <a:p>
            <a:pPr lvl="1">
              <a:spcAft>
                <a:spcPts val="600"/>
              </a:spcAft>
            </a:pPr>
            <a:r>
              <a:rPr sz="1400" b="0" i="0">
                <a:solidFill>
                  <a:srgbClr val="5D6D7E"/>
                </a:solidFill>
                <a:latin typeface="Calibri"/>
              </a:rPr>
              <a:t>–  Embedding de référence : bge-m3 (multilingue, 1024 dim, contexte 8192 tokens).</a:t>
            </a:r>
          </a:p>
          <a:p>
            <a:pPr lvl="1">
              <a:spcAft>
                <a:spcPts val="600"/>
              </a:spcAft>
            </a:pPr>
            <a:r>
              <a:rPr sz="1400" b="0" i="0">
                <a:solidFill>
                  <a:srgbClr val="5D6D7E"/>
                </a:solidFill>
                <a:latin typeface="Calibri"/>
              </a:rPr>
              <a:t>–  Génération : qwen2.5:7b (référence), comparé à mistral:7b et gemma2:9b (chapitre 3).</a:t>
            </a:r>
          </a:p>
          <a:p>
            <a:pPr lvl="1">
              <a:spcAft>
                <a:spcPts val="600"/>
              </a:spcAft>
            </a:pPr>
            <a:r>
              <a:rPr sz="1400" b="0" i="0">
                <a:solidFill>
                  <a:srgbClr val="5D6D7E"/>
                </a:solidFill>
                <a:latin typeface="Calibri"/>
              </a:rPr>
              <a:t>–  Reranking de référence : cross-encoder ms-marco-MiniLM-L-6-v2 (léger, exécutable CPU).</a:t>
            </a:r>
          </a:p>
          <a:p>
            <a:pPr lvl="1">
              <a:spcAft>
                <a:spcPts val="600"/>
              </a:spcAft>
            </a:pPr>
            <a:r>
              <a:rPr sz="1400" b="0" i="0">
                <a:solidFill>
                  <a:srgbClr val="5D6D7E"/>
                </a:solidFill>
                <a:latin typeface="Calibri"/>
              </a:rPr>
              <a:t>–  Stockage : PostgreSQL + pgvector, index IVFFLAT (100 listes, 10 probes).</a:t>
            </a:r>
          </a:p>
          <a:p>
            <a:pPr>
              <a:spcAft>
                <a:spcPts val="600"/>
              </a:spcAft>
            </a:pPr>
            <a:r>
              <a:rPr sz="1500" b="0" i="0">
                <a:solidFill>
                  <a:srgbClr val="2B2B2B"/>
                </a:solidFill>
                <a:latin typeface="Calibri"/>
              </a:rPr>
              <a:t>•  Critères juridiques : résistance au bruit, rejet explicite hors-corpus, fidélité aux sources.</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13 / 24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2 · 2.5</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Évaluation et construction du jeu de test</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508760"/>
            <a:ext cx="10972800" cy="4663440"/>
          </a:xfrm>
          <a:prstGeom prst="rect">
            <a:avLst/>
          </a:prstGeom>
          <a:noFill/>
        </p:spPr>
        <p:txBody>
          <a:bodyPr wrap="square" anchor="t">
            <a:spAutoFit/>
          </a:bodyPr>
          <a:lstStyle/>
          <a:p>
            <a:pPr>
              <a:spcAft>
                <a:spcPts val="600"/>
              </a:spcAft>
            </a:pPr>
            <a:r>
              <a:rPr sz="1500" b="0" i="0">
                <a:solidFill>
                  <a:srgbClr val="2B2B2B"/>
                </a:solidFill>
                <a:latin typeface="Calibri"/>
              </a:rPr>
              <a:t>•  RAGAS mesure séparément retrieval et génération via quatre métriques :</a:t>
            </a:r>
          </a:p>
          <a:p>
            <a:pPr lvl="1">
              <a:spcAft>
                <a:spcPts val="600"/>
              </a:spcAft>
            </a:pPr>
            <a:r>
              <a:rPr sz="1400" b="0" i="0">
                <a:solidFill>
                  <a:srgbClr val="5D6D7E"/>
                </a:solidFill>
                <a:latin typeface="Calibri"/>
              </a:rPr>
              <a:t>–  faithfulness (ancrage, anti-hallucination) et answer relevancy (réponse à la question) → génération ;</a:t>
            </a:r>
          </a:p>
          <a:p>
            <a:pPr lvl="1">
              <a:spcAft>
                <a:spcPts val="600"/>
              </a:spcAft>
            </a:pPr>
            <a:r>
              <a:rPr sz="1400" b="0" i="0">
                <a:solidFill>
                  <a:srgbClr val="5D6D7E"/>
                </a:solidFill>
                <a:latin typeface="Calibri"/>
              </a:rPr>
              <a:t>–  context precision (pertinence des chunks) et context recall (couverture) → retrieval.</a:t>
            </a:r>
          </a:p>
          <a:p>
            <a:pPr>
              <a:spcAft>
                <a:spcPts val="600"/>
              </a:spcAft>
            </a:pPr>
            <a:r>
              <a:rPr sz="1500" b="0" i="0">
                <a:solidFill>
                  <a:srgbClr val="2B2B2B"/>
                </a:solidFill>
                <a:latin typeface="Calibri"/>
              </a:rPr>
              <a:t>•  Construction du jeu de test en trois étapes :</a:t>
            </a:r>
          </a:p>
          <a:p>
            <a:pPr lvl="1">
              <a:spcAft>
                <a:spcPts val="600"/>
              </a:spcAft>
            </a:pPr>
            <a:r>
              <a:rPr sz="1400" b="0" i="0">
                <a:solidFill>
                  <a:srgbClr val="5D6D7E"/>
                </a:solidFill>
                <a:latin typeface="Calibri"/>
              </a:rPr>
              <a:t>–  extraction de chunks seed (250-3000 car.) du corpus indexé ;</a:t>
            </a:r>
          </a:p>
          <a:p>
            <a:pPr lvl="1">
              <a:spcAft>
                <a:spcPts val="600"/>
              </a:spcAft>
            </a:pPr>
            <a:r>
              <a:rPr sz="1400" b="0" i="0">
                <a:solidFill>
                  <a:srgbClr val="5D6D7E"/>
                </a:solidFill>
                <a:latin typeface="Calibri"/>
              </a:rPr>
              <a:t>–  génération synthétique des Q/R par gpt-4o-mini — distinct des modèles évalués (anti-biais d'auto-évaluation) ;</a:t>
            </a:r>
          </a:p>
          <a:p>
            <a:pPr lvl="1">
              <a:spcAft>
                <a:spcPts val="600"/>
              </a:spcAft>
            </a:pPr>
            <a:r>
              <a:rPr sz="1400" b="0" i="0">
                <a:solidFill>
                  <a:srgbClr val="5D6D7E"/>
                </a:solidFill>
                <a:latin typeface="Calibri"/>
              </a:rPr>
              <a:t>–  validation humaine de chaque paire (formulation, exactitude, doublons).</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14 / 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2 · 2.6</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Gestion de la mémoire conversationnelle</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508760"/>
            <a:ext cx="10972800" cy="4663440"/>
          </a:xfrm>
          <a:prstGeom prst="rect">
            <a:avLst/>
          </a:prstGeom>
          <a:noFill/>
        </p:spPr>
        <p:txBody>
          <a:bodyPr wrap="square" anchor="t">
            <a:spAutoFit/>
          </a:bodyPr>
          <a:lstStyle/>
          <a:p>
            <a:pPr>
              <a:spcAft>
                <a:spcPts val="600"/>
              </a:spcAft>
            </a:pPr>
            <a:r>
              <a:rPr sz="1600" b="0" i="0">
                <a:solidFill>
                  <a:srgbClr val="2B2B2B"/>
                </a:solidFill>
                <a:latin typeface="Calibri"/>
              </a:rPr>
              <a:t>•  Les questions de suivi (anaphores) imposent de maintenir un historique.</a:t>
            </a:r>
          </a:p>
          <a:p>
            <a:pPr>
              <a:spcAft>
                <a:spcPts val="600"/>
              </a:spcAft>
            </a:pPr>
            <a:r>
              <a:rPr sz="1600" b="0" i="0">
                <a:solidFill>
                  <a:srgbClr val="2B2B2B"/>
                </a:solidFill>
                <a:latin typeface="Calibri"/>
              </a:rPr>
              <a:t>•  Une accumulation illimitée dépasse la fenêtre de contexte du modèle (4096-8192 tokens).</a:t>
            </a:r>
          </a:p>
          <a:p>
            <a:pPr>
              <a:spcAft>
                <a:spcPts val="600"/>
              </a:spcAft>
            </a:pPr>
            <a:r>
              <a:rPr sz="1600" b="0" i="0">
                <a:solidFill>
                  <a:srgbClr val="2B2B2B"/>
                </a:solidFill>
                <a:latin typeface="Calibri"/>
              </a:rPr>
              <a:t>•  Stratégie : compression par résumé avec fenêtre glissante.</a:t>
            </a:r>
          </a:p>
          <a:p>
            <a:pPr lvl="1">
              <a:spcAft>
                <a:spcPts val="600"/>
              </a:spcAft>
            </a:pPr>
            <a:r>
              <a:rPr sz="1500" b="0" i="0">
                <a:solidFill>
                  <a:srgbClr val="5D6D7E"/>
                </a:solidFill>
                <a:latin typeface="Calibri"/>
              </a:rPr>
              <a:t>–  au-delà d'un seuil (~2000 tokens, estimés par len(message)//4), le LLM résume l'historique ancien ;</a:t>
            </a:r>
          </a:p>
          <a:p>
            <a:pPr lvl="1">
              <a:spcAft>
                <a:spcPts val="600"/>
              </a:spcAft>
            </a:pPr>
            <a:r>
              <a:rPr sz="1500" b="0" i="0">
                <a:solidFill>
                  <a:srgbClr val="5D6D7E"/>
                </a:solidFill>
                <a:latin typeface="Calibri"/>
              </a:rPr>
              <a:t>–  les 4 derniers messages sont conservés intacts.</a:t>
            </a:r>
          </a:p>
          <a:p>
            <a:pPr>
              <a:spcAft>
                <a:spcPts val="600"/>
              </a:spcAft>
            </a:pPr>
            <a:r>
              <a:rPr sz="1600" b="0" i="0">
                <a:solidFill>
                  <a:srgbClr val="2B2B2B"/>
                </a:solidFill>
                <a:latin typeface="Calibri"/>
              </a:rPr>
              <a:t>•  Aucune dépendance externe ; suffisant pour des sessions institutionnelles (10-20 échanges).</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15 / 24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3 · 3.1</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Protocole expérimental</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508760"/>
            <a:ext cx="10972800" cy="4663440"/>
          </a:xfrm>
          <a:prstGeom prst="rect">
            <a:avLst/>
          </a:prstGeom>
          <a:noFill/>
        </p:spPr>
        <p:txBody>
          <a:bodyPr wrap="square" anchor="t">
            <a:spAutoFit/>
          </a:bodyPr>
          <a:lstStyle/>
          <a:p>
            <a:pPr>
              <a:spcAft>
                <a:spcPts val="600"/>
              </a:spcAft>
            </a:pPr>
            <a:r>
              <a:rPr sz="1500" b="0" i="0">
                <a:solidFill>
                  <a:srgbClr val="2B2B2B"/>
                </a:solidFill>
                <a:latin typeface="Calibri"/>
              </a:rPr>
              <a:t>•  Jeu de test : 79 paires Q/R validées manuellement.</a:t>
            </a:r>
          </a:p>
          <a:p>
            <a:pPr lvl="1">
              <a:spcAft>
                <a:spcPts val="600"/>
              </a:spcAft>
            </a:pPr>
            <a:r>
              <a:rPr sz="1400" b="0" i="0">
                <a:solidFill>
                  <a:srgbClr val="5D6D7E"/>
                </a:solidFill>
                <a:latin typeface="Calibri"/>
              </a:rPr>
              <a:t>–  3 domaines (droit social, fiscal, sociétés) × 3 profils (factuel mono-article, synthèse multi-articles, hors-corpus).</a:t>
            </a:r>
          </a:p>
          <a:p>
            <a:pPr>
              <a:spcAft>
                <a:spcPts val="600"/>
              </a:spcAft>
            </a:pPr>
            <a:r>
              <a:rPr sz="1500" b="0" i="0">
                <a:solidFill>
                  <a:srgbClr val="2B2B2B"/>
                </a:solidFill>
                <a:latin typeface="Calibri"/>
              </a:rPr>
              <a:t>•  Plan d'expérience : 12 configurations = 3 modèles de génération × HyDE (on/off) × reranking (on/off).</a:t>
            </a:r>
          </a:p>
          <a:p>
            <a:pPr>
              <a:spcAft>
                <a:spcPts val="600"/>
              </a:spcAft>
            </a:pPr>
            <a:r>
              <a:rPr sz="1500" b="0" i="0">
                <a:solidFill>
                  <a:srgbClr val="2B2B2B"/>
                </a:solidFill>
                <a:latin typeface="Calibri"/>
              </a:rPr>
              <a:t>•  Paramètres fixes : embedding bge-m3, reranker ms-marco, top_k = 6, seuil cosinus 0,5, pgvector IVFFLAT (100 listes, 10 probes).</a:t>
            </a:r>
          </a:p>
          <a:p>
            <a:pPr>
              <a:spcAft>
                <a:spcPts val="600"/>
              </a:spcAft>
            </a:pPr>
            <a:r>
              <a:rPr sz="1500" b="0" i="0">
                <a:solidFill>
                  <a:srgbClr val="2B2B2B"/>
                </a:solidFill>
                <a:latin typeface="Calibri"/>
              </a:rPr>
              <a:t>•  Juge RAGAS : gpt-4o-mini — externe au pipeline de production.</a:t>
            </a:r>
          </a:p>
          <a:p>
            <a:pPr>
              <a:spcAft>
                <a:spcPts val="600"/>
              </a:spcAft>
            </a:pPr>
            <a:r>
              <a:rPr sz="1500" b="0" i="0">
                <a:solidFill>
                  <a:srgbClr val="2B2B2B"/>
                </a:solidFill>
                <a:latin typeface="Calibri"/>
              </a:rPr>
              <a:t>•  Configuration de base : recherche dense par similarité cosinus, sans HyDE ni reranking.</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16 / 24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3 · 3.1</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Exemples concrets du jeu de test</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40080" y="1600200"/>
            <a:ext cx="109728" cy="15087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00200"/>
            <a:ext cx="10607040" cy="1508760"/>
          </a:xfrm>
          <a:prstGeom prst="rect">
            <a:avLst/>
          </a:prstGeom>
          <a:noFill/>
        </p:spPr>
        <p:txBody>
          <a:bodyPr wrap="square" anchor="t">
            <a:spAutoFit/>
          </a:bodyPr>
          <a:lstStyle/>
          <a:p>
            <a:r>
              <a:rPr sz="1300" b="1" i="0">
                <a:solidFill>
                  <a:srgbClr val="1B2A4A"/>
                </a:solidFill>
                <a:latin typeface="Georgia"/>
              </a:rPr>
              <a:t>Factuel (mono-article)</a:t>
            </a:r>
          </a:p>
          <a:p>
            <a:pPr>
              <a:spcBef>
                <a:spcPts val="200"/>
              </a:spcBef>
            </a:pPr>
            <a:r>
              <a:rPr sz="1200" b="0" i="0">
                <a:solidFill>
                  <a:srgbClr val="2B2B2B"/>
                </a:solidFill>
                <a:latin typeface="Calibri"/>
              </a:rPr>
              <a:t>Q : « Quel montant le gouvernement peut-il dépenser en 2024 pour le fonds des titres identitaires électroniques ? »</a:t>
            </a:r>
          </a:p>
          <a:p>
            <a:pPr>
              <a:spcBef>
                <a:spcPts val="100"/>
              </a:spcBef>
            </a:pPr>
            <a:r>
              <a:rPr sz="1200" b="0" i="1">
                <a:solidFill>
                  <a:srgbClr val="2B2B2B"/>
                </a:solidFill>
                <a:latin typeface="Calibri"/>
              </a:rPr>
              <a:t>R : montant fixé par l'article 29.</a:t>
            </a:r>
          </a:p>
          <a:p>
            <a:pPr>
              <a:spcBef>
                <a:spcPts val="100"/>
              </a:spcBef>
            </a:pPr>
            <a:r>
              <a:rPr sz="1000" b="0" i="0">
                <a:solidFill>
                  <a:srgbClr val="5D6D7E"/>
                </a:solidFill>
                <a:latin typeface="Calibri"/>
              </a:rPr>
              <a:t>BO 7259-bis · art. 29 · 2023</a:t>
            </a:r>
          </a:p>
        </p:txBody>
      </p:sp>
      <p:sp>
        <p:nvSpPr>
          <p:cNvPr id="7" name="Rectangle 6"/>
          <p:cNvSpPr/>
          <p:nvPr/>
        </p:nvSpPr>
        <p:spPr>
          <a:xfrm>
            <a:off x="640080" y="3291840"/>
            <a:ext cx="109728" cy="150876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3291840"/>
            <a:ext cx="10607040" cy="1508760"/>
          </a:xfrm>
          <a:prstGeom prst="rect">
            <a:avLst/>
          </a:prstGeom>
          <a:noFill/>
        </p:spPr>
        <p:txBody>
          <a:bodyPr wrap="square" anchor="t">
            <a:spAutoFit/>
          </a:bodyPr>
          <a:lstStyle/>
          <a:p>
            <a:r>
              <a:rPr sz="1300" b="1" i="0">
                <a:solidFill>
                  <a:srgbClr val="2E86C1"/>
                </a:solidFill>
                <a:latin typeface="Georgia"/>
              </a:rPr>
              <a:t>Synthèse (multi-articles)</a:t>
            </a:r>
          </a:p>
          <a:p>
            <a:pPr>
              <a:spcBef>
                <a:spcPts val="200"/>
              </a:spcBef>
            </a:pPr>
            <a:r>
              <a:rPr sz="1200" b="0" i="0">
                <a:solidFill>
                  <a:srgbClr val="2B2B2B"/>
                </a:solidFill>
                <a:latin typeface="Calibri"/>
              </a:rPr>
              <a:t>Q : « Comment fonctionne la fusion d'un OPCVM avec un autre OPCVM existant ? »</a:t>
            </a:r>
          </a:p>
          <a:p>
            <a:pPr>
              <a:spcBef>
                <a:spcPts val="100"/>
              </a:spcBef>
            </a:pPr>
            <a:r>
              <a:rPr sz="1200" b="0" i="1">
                <a:solidFill>
                  <a:srgbClr val="2B2B2B"/>
                </a:solidFill>
                <a:latin typeface="Calibri"/>
              </a:rPr>
              <a:t>R : fusion-absorption par la société de gestion (art. 78).</a:t>
            </a:r>
          </a:p>
          <a:p>
            <a:pPr>
              <a:spcBef>
                <a:spcPts val="100"/>
              </a:spcBef>
            </a:pPr>
            <a:r>
              <a:rPr sz="1000" b="0" i="0">
                <a:solidFill>
                  <a:srgbClr val="5D6D7E"/>
                </a:solidFill>
                <a:latin typeface="Calibri"/>
              </a:rPr>
              <a:t>BO 7462 · art. 78 · 2025</a:t>
            </a:r>
          </a:p>
        </p:txBody>
      </p:sp>
      <p:sp>
        <p:nvSpPr>
          <p:cNvPr id="9" name="Rectangle 8"/>
          <p:cNvSpPr/>
          <p:nvPr/>
        </p:nvSpPr>
        <p:spPr>
          <a:xfrm>
            <a:off x="640080" y="4983480"/>
            <a:ext cx="109728" cy="1508760"/>
          </a:xfrm>
          <a:prstGeom prst="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983480"/>
            <a:ext cx="10607040" cy="1508760"/>
          </a:xfrm>
          <a:prstGeom prst="rect">
            <a:avLst/>
          </a:prstGeom>
          <a:noFill/>
        </p:spPr>
        <p:txBody>
          <a:bodyPr wrap="square" anchor="t">
            <a:spAutoFit/>
          </a:bodyPr>
          <a:lstStyle/>
          <a:p>
            <a:r>
              <a:rPr sz="1300" b="1" i="0">
                <a:solidFill>
                  <a:srgbClr val="5D6D7E"/>
                </a:solidFill>
                <a:latin typeface="Georgia"/>
              </a:rPr>
              <a:t>Hors-corpus (refus attendu)</a:t>
            </a:r>
          </a:p>
          <a:p>
            <a:pPr>
              <a:spcBef>
                <a:spcPts val="200"/>
              </a:spcBef>
            </a:pPr>
            <a:r>
              <a:rPr sz="1200" b="0" i="0">
                <a:solidFill>
                  <a:srgbClr val="2B2B2B"/>
                </a:solidFill>
                <a:latin typeface="Calibri"/>
              </a:rPr>
              <a:t>Q : « Comment puis-je obtenir un agrément pour 2024 ? »</a:t>
            </a:r>
          </a:p>
          <a:p>
            <a:pPr>
              <a:spcBef>
                <a:spcPts val="100"/>
              </a:spcBef>
            </a:pPr>
            <a:r>
              <a:rPr sz="1200" b="0" i="1">
                <a:solidFill>
                  <a:srgbClr val="2B2B2B"/>
                </a:solidFill>
                <a:latin typeface="Calibri"/>
              </a:rPr>
              <a:t>R : « L'extrait fourni ne contient pas d'information sur cette procédure. »</a:t>
            </a:r>
          </a:p>
          <a:p>
            <a:pPr>
              <a:spcBef>
                <a:spcPts val="100"/>
              </a:spcBef>
            </a:pPr>
            <a:r>
              <a:rPr sz="1000" b="0" i="0">
                <a:solidFill>
                  <a:srgbClr val="5D6D7E"/>
                </a:solidFill>
                <a:latin typeface="Calibri"/>
              </a:rPr>
              <a:t>BO 7410 · test anti-hallucination</a:t>
            </a:r>
          </a:p>
        </p:txBody>
      </p:sp>
      <p:cxnSp>
        <p:nvCxnSpPr>
          <p:cNvPr id="11" name="Connector 10"/>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13" name="TextBox 12"/>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17 / 24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3 · 3.2</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Étude d'ablation : impact du reranking et de HyDE</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pic>
        <p:nvPicPr>
          <p:cNvPr id="5" name="Picture 4" descr="fig_precision_config.png"/>
          <p:cNvPicPr>
            <a:picLocks noChangeAspect="1"/>
          </p:cNvPicPr>
          <p:nvPr/>
        </p:nvPicPr>
        <p:blipFill>
          <a:blip r:embed="rId3"/>
          <a:stretch>
            <a:fillRect/>
          </a:stretch>
        </p:blipFill>
        <p:spPr>
          <a:xfrm>
            <a:off x="365760" y="1554480"/>
            <a:ext cx="5674157" cy="3566160"/>
          </a:xfrm>
          <a:prstGeom prst="rect">
            <a:avLst/>
          </a:prstGeom>
        </p:spPr>
      </p:pic>
      <p:sp>
        <p:nvSpPr>
          <p:cNvPr id="6" name="TextBox 5"/>
          <p:cNvSpPr txBox="1"/>
          <p:nvPr/>
        </p:nvSpPr>
        <p:spPr>
          <a:xfrm>
            <a:off x="6949440" y="1645920"/>
            <a:ext cx="5029200" cy="4663440"/>
          </a:xfrm>
          <a:prstGeom prst="rect">
            <a:avLst/>
          </a:prstGeom>
          <a:noFill/>
        </p:spPr>
        <p:txBody>
          <a:bodyPr wrap="square" anchor="t">
            <a:spAutoFit/>
          </a:bodyPr>
          <a:lstStyle/>
          <a:p>
            <a:pPr>
              <a:spcAft>
                <a:spcPts val="600"/>
              </a:spcAft>
            </a:pPr>
            <a:r>
              <a:rPr sz="1300" b="0" i="0">
                <a:solidFill>
                  <a:srgbClr val="2B2B2B"/>
                </a:solidFill>
                <a:latin typeface="Calibri"/>
              </a:rPr>
              <a:t>•  3.2.1 — Reranking seul :</a:t>
            </a:r>
          </a:p>
          <a:p>
            <a:pPr lvl="1">
              <a:spcAft>
                <a:spcPts val="600"/>
              </a:spcAft>
            </a:pPr>
            <a:r>
              <a:rPr sz="1200" b="0" i="0">
                <a:solidFill>
                  <a:srgbClr val="5D6D7E"/>
                </a:solidFill>
                <a:latin typeface="Calibri"/>
              </a:rPr>
              <a:t>–  +5 à 8 pts de précision du contexte, systématique sur les 3 modèles ;</a:t>
            </a:r>
          </a:p>
          <a:p>
            <a:pPr lvl="1">
              <a:spcAft>
                <a:spcPts val="600"/>
              </a:spcAft>
            </a:pPr>
            <a:r>
              <a:rPr sz="1200" b="0" i="0">
                <a:solidFill>
                  <a:srgbClr val="5D6D7E"/>
                </a:solidFill>
                <a:latin typeface="Calibri"/>
              </a:rPr>
              <a:t>–  léger recul de la pertinence (contexte plus focalisé).</a:t>
            </a:r>
          </a:p>
          <a:p>
            <a:pPr>
              <a:spcAft>
                <a:spcPts val="600"/>
              </a:spcAft>
            </a:pPr>
            <a:r>
              <a:rPr sz="1300" b="0" i="0">
                <a:solidFill>
                  <a:srgbClr val="2B2B2B"/>
                </a:solidFill>
                <a:latin typeface="Calibri"/>
              </a:rPr>
              <a:t>•  3.2.2 — HyDE seul :</a:t>
            </a:r>
          </a:p>
          <a:p>
            <a:pPr lvl="1">
              <a:spcAft>
                <a:spcPts val="600"/>
              </a:spcAft>
            </a:pPr>
            <a:r>
              <a:rPr sz="1200" b="0" i="0">
                <a:solidFill>
                  <a:srgbClr val="5D6D7E"/>
                </a:solidFill>
                <a:latin typeface="Calibri"/>
              </a:rPr>
              <a:t>–  dégrade la précision (~−8 pts) sur toutes les configs ;</a:t>
            </a:r>
          </a:p>
          <a:p>
            <a:pPr lvl="1">
              <a:spcAft>
                <a:spcPts val="600"/>
              </a:spcAft>
            </a:pPr>
            <a:r>
              <a:rPr sz="1200" b="0" i="0">
                <a:solidFill>
                  <a:srgbClr val="5D6D7E"/>
                </a:solidFill>
                <a:latin typeface="Calibri"/>
              </a:rPr>
              <a:t>–  cause : écart de registre — le modèle paraphrase en français courant, pas dans le registre normatif du corpus.</a:t>
            </a:r>
          </a:p>
        </p:txBody>
      </p:sp>
      <p:cxnSp>
        <p:nvCxnSpPr>
          <p:cNvPr id="7" name="Connector 6"/>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9" name="TextBox 8"/>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18 / 24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3 · 3.2.3</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Synthèse de l'ablation et choix de configuration</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pic>
        <p:nvPicPr>
          <p:cNvPr id="5" name="Picture 4" descr="fig_scores_globaux.png"/>
          <p:cNvPicPr>
            <a:picLocks noChangeAspect="1"/>
          </p:cNvPicPr>
          <p:nvPr/>
        </p:nvPicPr>
        <p:blipFill>
          <a:blip r:embed="rId3"/>
          <a:stretch>
            <a:fillRect/>
          </a:stretch>
        </p:blipFill>
        <p:spPr>
          <a:xfrm>
            <a:off x="365760" y="1554480"/>
            <a:ext cx="5417036" cy="3200400"/>
          </a:xfrm>
          <a:prstGeom prst="rect">
            <a:avLst/>
          </a:prstGeom>
        </p:spPr>
      </p:pic>
      <p:graphicFrame>
        <p:nvGraphicFramePr>
          <p:cNvPr id="6" name="Table 5"/>
          <p:cNvGraphicFramePr>
            <a:graphicFrameLocks noGrp="1"/>
          </p:cNvGraphicFramePr>
          <p:nvPr/>
        </p:nvGraphicFramePr>
        <p:xfrm>
          <a:off x="822960" y="4937760"/>
          <a:ext cx="6675120" cy="1188720"/>
        </p:xfrm>
        <a:graphic>
          <a:graphicData uri="http://schemas.openxmlformats.org/drawingml/2006/table">
            <a:tbl>
              <a:tblPr firstRow="1" bandRow="1">
                <a:tableStyleId>{5C22544A-7EE6-4342-B048-85BDC9FD1C3A}</a:tableStyleId>
              </a:tblPr>
              <a:tblGrid>
                <a:gridCol w="1335024">
                  <a:extLst>
                    <a:ext uri="{9D8B030D-6E8A-4147-A177-3AD203B41FA5}">
                      <a16:colId xmlns:a16="http://schemas.microsoft.com/office/drawing/2014/main" val="20000"/>
                    </a:ext>
                  </a:extLst>
                </a:gridCol>
                <a:gridCol w="1335024">
                  <a:extLst>
                    <a:ext uri="{9D8B030D-6E8A-4147-A177-3AD203B41FA5}">
                      <a16:colId xmlns:a16="http://schemas.microsoft.com/office/drawing/2014/main" val="20001"/>
                    </a:ext>
                  </a:extLst>
                </a:gridCol>
                <a:gridCol w="1335024">
                  <a:extLst>
                    <a:ext uri="{9D8B030D-6E8A-4147-A177-3AD203B41FA5}">
                      <a16:colId xmlns:a16="http://schemas.microsoft.com/office/drawing/2014/main" val="20002"/>
                    </a:ext>
                  </a:extLst>
                </a:gridCol>
                <a:gridCol w="1335024">
                  <a:extLst>
                    <a:ext uri="{9D8B030D-6E8A-4147-A177-3AD203B41FA5}">
                      <a16:colId xmlns:a16="http://schemas.microsoft.com/office/drawing/2014/main" val="20003"/>
                    </a:ext>
                  </a:extLst>
                </a:gridCol>
                <a:gridCol w="1335024">
                  <a:extLst>
                    <a:ext uri="{9D8B030D-6E8A-4147-A177-3AD203B41FA5}">
                      <a16:colId xmlns:a16="http://schemas.microsoft.com/office/drawing/2014/main" val="20004"/>
                    </a:ext>
                  </a:extLst>
                </a:gridCol>
              </a:tblGrid>
              <a:tr h="297180">
                <a:tc>
                  <a:txBody>
                    <a:bodyPr/>
                    <a:lstStyle/>
                    <a:p>
                      <a:r>
                        <a:rPr sz="1000" b="1">
                          <a:latin typeface="Calibri"/>
                        </a:rPr>
                        <a:t>Modèle</a:t>
                      </a:r>
                    </a:p>
                  </a:txBody>
                  <a:tcPr/>
                </a:tc>
                <a:tc>
                  <a:txBody>
                    <a:bodyPr/>
                    <a:lstStyle/>
                    <a:p>
                      <a:r>
                        <a:rPr sz="1000" b="1">
                          <a:latin typeface="Calibri"/>
                        </a:rPr>
                        <a:t>baseline</a:t>
                      </a:r>
                    </a:p>
                  </a:txBody>
                  <a:tcPr/>
                </a:tc>
                <a:tc>
                  <a:txBody>
                    <a:bodyPr/>
                    <a:lstStyle/>
                    <a:p>
                      <a:r>
                        <a:rPr sz="1000" b="1">
                          <a:latin typeface="Calibri"/>
                        </a:rPr>
                        <a:t>+rerank</a:t>
                      </a:r>
                    </a:p>
                  </a:txBody>
                  <a:tcPr/>
                </a:tc>
                <a:tc>
                  <a:txBody>
                    <a:bodyPr/>
                    <a:lstStyle/>
                    <a:p>
                      <a:r>
                        <a:rPr sz="1000" b="1">
                          <a:latin typeface="Calibri"/>
                        </a:rPr>
                        <a:t>+hyde</a:t>
                      </a:r>
                    </a:p>
                  </a:txBody>
                  <a:tcPr/>
                </a:tc>
                <a:tc>
                  <a:txBody>
                    <a:bodyPr/>
                    <a:lstStyle/>
                    <a:p>
                      <a:r>
                        <a:rPr sz="1000" b="1">
                          <a:latin typeface="Calibri"/>
                        </a:rPr>
                        <a:t>hyde+rerank</a:t>
                      </a:r>
                    </a:p>
                  </a:txBody>
                  <a:tcPr/>
                </a:tc>
                <a:extLst>
                  <a:ext uri="{0D108BD9-81ED-4DB2-BD59-A6C34878D82A}">
                    <a16:rowId xmlns:a16="http://schemas.microsoft.com/office/drawing/2014/main" val="10000"/>
                  </a:ext>
                </a:extLst>
              </a:tr>
              <a:tr h="297180">
                <a:tc>
                  <a:txBody>
                    <a:bodyPr/>
                    <a:lstStyle/>
                    <a:p>
                      <a:r>
                        <a:rPr sz="1000" b="1">
                          <a:latin typeface="Calibri"/>
                        </a:rPr>
                        <a:t>qwen2.5:7b</a:t>
                      </a:r>
                    </a:p>
                  </a:txBody>
                  <a:tcPr/>
                </a:tc>
                <a:tc>
                  <a:txBody>
                    <a:bodyPr/>
                    <a:lstStyle/>
                    <a:p>
                      <a:r>
                        <a:rPr sz="1000" b="0">
                          <a:latin typeface="Calibri"/>
                        </a:rPr>
                        <a:t>0.776</a:t>
                      </a:r>
                    </a:p>
                  </a:txBody>
                  <a:tcPr/>
                </a:tc>
                <a:tc>
                  <a:txBody>
                    <a:bodyPr/>
                    <a:lstStyle/>
                    <a:p>
                      <a:r>
                        <a:rPr sz="1000" b="0">
                          <a:latin typeface="Calibri"/>
                        </a:rPr>
                        <a:t>0.782</a:t>
                      </a:r>
                    </a:p>
                  </a:txBody>
                  <a:tcPr/>
                </a:tc>
                <a:tc>
                  <a:txBody>
                    <a:bodyPr/>
                    <a:lstStyle/>
                    <a:p>
                      <a:r>
                        <a:rPr sz="1000" b="0">
                          <a:latin typeface="Calibri"/>
                        </a:rPr>
                        <a:t>0.731</a:t>
                      </a:r>
                    </a:p>
                  </a:txBody>
                  <a:tcPr/>
                </a:tc>
                <a:tc>
                  <a:txBody>
                    <a:bodyPr/>
                    <a:lstStyle/>
                    <a:p>
                      <a:r>
                        <a:rPr sz="1000" b="0">
                          <a:latin typeface="Calibri"/>
                        </a:rPr>
                        <a:t>0.794</a:t>
                      </a:r>
                    </a:p>
                  </a:txBody>
                  <a:tcPr/>
                </a:tc>
                <a:extLst>
                  <a:ext uri="{0D108BD9-81ED-4DB2-BD59-A6C34878D82A}">
                    <a16:rowId xmlns:a16="http://schemas.microsoft.com/office/drawing/2014/main" val="10001"/>
                  </a:ext>
                </a:extLst>
              </a:tr>
              <a:tr h="297180">
                <a:tc>
                  <a:txBody>
                    <a:bodyPr/>
                    <a:lstStyle/>
                    <a:p>
                      <a:r>
                        <a:rPr sz="1000" b="1">
                          <a:latin typeface="Calibri"/>
                        </a:rPr>
                        <a:t>mistral:7b</a:t>
                      </a:r>
                    </a:p>
                  </a:txBody>
                  <a:tcPr/>
                </a:tc>
                <a:tc>
                  <a:txBody>
                    <a:bodyPr/>
                    <a:lstStyle/>
                    <a:p>
                      <a:r>
                        <a:rPr sz="1000" b="0">
                          <a:latin typeface="Calibri"/>
                        </a:rPr>
                        <a:t>0.787</a:t>
                      </a:r>
                    </a:p>
                  </a:txBody>
                  <a:tcPr/>
                </a:tc>
                <a:tc>
                  <a:txBody>
                    <a:bodyPr/>
                    <a:lstStyle/>
                    <a:p>
                      <a:r>
                        <a:rPr sz="1000" b="0">
                          <a:latin typeface="Calibri"/>
                        </a:rPr>
                        <a:t>0.790</a:t>
                      </a:r>
                    </a:p>
                  </a:txBody>
                  <a:tcPr/>
                </a:tc>
                <a:tc>
                  <a:txBody>
                    <a:bodyPr/>
                    <a:lstStyle/>
                    <a:p>
                      <a:r>
                        <a:rPr sz="1000" b="0">
                          <a:latin typeface="Calibri"/>
                        </a:rPr>
                        <a:t>0.722</a:t>
                      </a:r>
                    </a:p>
                  </a:txBody>
                  <a:tcPr/>
                </a:tc>
                <a:tc>
                  <a:txBody>
                    <a:bodyPr/>
                    <a:lstStyle/>
                    <a:p>
                      <a:r>
                        <a:rPr sz="1000" b="0">
                          <a:latin typeface="Calibri"/>
                        </a:rPr>
                        <a:t>0.788</a:t>
                      </a:r>
                    </a:p>
                  </a:txBody>
                  <a:tcPr/>
                </a:tc>
                <a:extLst>
                  <a:ext uri="{0D108BD9-81ED-4DB2-BD59-A6C34878D82A}">
                    <a16:rowId xmlns:a16="http://schemas.microsoft.com/office/drawing/2014/main" val="10002"/>
                  </a:ext>
                </a:extLst>
              </a:tr>
              <a:tr h="297180">
                <a:tc>
                  <a:txBody>
                    <a:bodyPr/>
                    <a:lstStyle/>
                    <a:p>
                      <a:r>
                        <a:rPr sz="1000" b="1">
                          <a:latin typeface="Calibri"/>
                        </a:rPr>
                        <a:t>gemma2:9b</a:t>
                      </a:r>
                    </a:p>
                  </a:txBody>
                  <a:tcPr/>
                </a:tc>
                <a:tc>
                  <a:txBody>
                    <a:bodyPr/>
                    <a:lstStyle/>
                    <a:p>
                      <a:r>
                        <a:rPr sz="1000" b="0">
                          <a:latin typeface="Calibri"/>
                        </a:rPr>
                        <a:t>0.753</a:t>
                      </a:r>
                    </a:p>
                  </a:txBody>
                  <a:tcPr/>
                </a:tc>
                <a:tc>
                  <a:txBody>
                    <a:bodyPr/>
                    <a:lstStyle/>
                    <a:p>
                      <a:r>
                        <a:rPr sz="1000" b="0">
                          <a:latin typeface="Calibri"/>
                        </a:rPr>
                        <a:t>0.757</a:t>
                      </a:r>
                    </a:p>
                  </a:txBody>
                  <a:tcPr/>
                </a:tc>
                <a:tc>
                  <a:txBody>
                    <a:bodyPr/>
                    <a:lstStyle/>
                    <a:p>
                      <a:r>
                        <a:rPr sz="1000" b="0">
                          <a:latin typeface="Calibri"/>
                        </a:rPr>
                        <a:t>0.716</a:t>
                      </a:r>
                    </a:p>
                  </a:txBody>
                  <a:tcPr/>
                </a:tc>
                <a:tc>
                  <a:txBody>
                    <a:bodyPr/>
                    <a:lstStyle/>
                    <a:p>
                      <a:r>
                        <a:rPr sz="1000" b="0">
                          <a:latin typeface="Calibri"/>
                        </a:rPr>
                        <a:t>0.751</a:t>
                      </a:r>
                    </a:p>
                  </a:txBody>
                  <a:tcPr/>
                </a:tc>
                <a:extLst>
                  <a:ext uri="{0D108BD9-81ED-4DB2-BD59-A6C34878D82A}">
                    <a16:rowId xmlns:a16="http://schemas.microsoft.com/office/drawing/2014/main" val="10003"/>
                  </a:ext>
                </a:extLst>
              </a:tr>
            </a:tbl>
          </a:graphicData>
        </a:graphic>
      </p:graphicFrame>
      <p:sp>
        <p:nvSpPr>
          <p:cNvPr id="7" name="TextBox 6"/>
          <p:cNvSpPr txBox="1"/>
          <p:nvPr/>
        </p:nvSpPr>
        <p:spPr>
          <a:xfrm>
            <a:off x="7589520" y="1737360"/>
            <a:ext cx="4297680" cy="4389120"/>
          </a:xfrm>
          <a:prstGeom prst="rect">
            <a:avLst/>
          </a:prstGeom>
          <a:noFill/>
        </p:spPr>
        <p:txBody>
          <a:bodyPr wrap="square" anchor="t">
            <a:spAutoFit/>
          </a:bodyPr>
          <a:lstStyle/>
          <a:p>
            <a:pPr>
              <a:spcAft>
                <a:spcPts val="300"/>
              </a:spcAft>
            </a:pPr>
            <a:r>
              <a:rPr sz="1300" b="0" i="0">
                <a:solidFill>
                  <a:srgbClr val="2B2B2B"/>
                </a:solidFill>
                <a:latin typeface="Calibri"/>
              </a:rPr>
              <a:t>hyde+rerank est marginalement le plus haut</a:t>
            </a:r>
          </a:p>
          <a:p>
            <a:pPr>
              <a:spcAft>
                <a:spcPts val="300"/>
              </a:spcAft>
            </a:pPr>
            <a:r>
              <a:rPr sz="1300" b="0" i="0">
                <a:solidFill>
                  <a:srgbClr val="2B2B2B"/>
                </a:solidFill>
                <a:latin typeface="Calibri"/>
              </a:rPr>
              <a:t>(qwen 0,794), mais HyDE est instable</a:t>
            </a:r>
          </a:p>
          <a:p>
            <a:pPr>
              <a:spcAft>
                <a:spcPts val="300"/>
              </a:spcAft>
            </a:pPr>
            <a:r>
              <a:rPr sz="1300" b="0" i="0">
                <a:solidFill>
                  <a:srgbClr val="2B2B2B"/>
                </a:solidFill>
                <a:latin typeface="Calibri"/>
              </a:rPr>
              <a:t>et coûte une 2ᵉ passe d'embedding (+30-50 % latence).</a:t>
            </a:r>
          </a:p>
          <a:p>
            <a:pPr>
              <a:spcAft>
                <a:spcPts val="300"/>
              </a:spcAft>
            </a:pPr>
            <a:endParaRPr sz="1300" b="0" i="0">
              <a:solidFill>
                <a:srgbClr val="2B2B2B"/>
              </a:solidFill>
              <a:latin typeface="Calibri"/>
            </a:endParaRPr>
          </a:p>
          <a:p>
            <a:pPr>
              <a:spcAft>
                <a:spcPts val="300"/>
              </a:spcAft>
            </a:pPr>
            <a:r>
              <a:rPr sz="1300" b="1" i="0">
                <a:solidFill>
                  <a:srgbClr val="1B2A4A"/>
                </a:solidFill>
                <a:latin typeface="Calibri"/>
              </a:rPr>
              <a:t>Configuration retenue : sans HyDE + reranking</a:t>
            </a:r>
          </a:p>
          <a:p>
            <a:pPr>
              <a:spcAft>
                <a:spcPts val="300"/>
              </a:spcAft>
            </a:pPr>
            <a:r>
              <a:rPr sz="1300" b="0" i="0">
                <a:solidFill>
                  <a:srgbClr val="2B2B2B"/>
                </a:solidFill>
                <a:latin typeface="Calibri"/>
              </a:rPr>
              <a:t>— gain systématique, coût maîtrisé, meilleure précision</a:t>
            </a:r>
          </a:p>
          <a:p>
            <a:pPr>
              <a:spcAft>
                <a:spcPts val="300"/>
              </a:spcAft>
            </a:pPr>
            <a:r>
              <a:rPr sz="1300" b="0" i="0">
                <a:solidFill>
                  <a:srgbClr val="2B2B2B"/>
                </a:solidFill>
                <a:latin typeface="Calibri"/>
              </a:rPr>
              <a:t>(mistral 0,790 ; qwen 0,782).</a:t>
            </a:r>
          </a:p>
          <a:p>
            <a:pPr>
              <a:spcAft>
                <a:spcPts val="300"/>
              </a:spcAft>
            </a:pPr>
            <a:endParaRPr sz="1300" b="0" i="0">
              <a:solidFill>
                <a:srgbClr val="2B2B2B"/>
              </a:solidFill>
              <a:latin typeface="Calibri"/>
            </a:endParaRPr>
          </a:p>
          <a:p>
            <a:pPr>
              <a:spcAft>
                <a:spcPts val="300"/>
              </a:spcAft>
            </a:pPr>
            <a:r>
              <a:rPr sz="1300" b="1" i="0">
                <a:solidFill>
                  <a:srgbClr val="1B2A4A"/>
                </a:solidFill>
                <a:latin typeface="Calibri"/>
              </a:rPr>
              <a:t>→ H1 validée partiellement.</a:t>
            </a:r>
          </a:p>
        </p:txBody>
      </p:sp>
      <p:cxnSp>
        <p:nvCxnSpPr>
          <p:cNvPr id="8" name="Connector 7"/>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10" name="TextBox 9"/>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19 / 24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3 · 3.3</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Comparaison des modèles de génération</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pic>
        <p:nvPicPr>
          <p:cNvPr id="5" name="Picture 4" descr="fig_models.png"/>
          <p:cNvPicPr>
            <a:picLocks noChangeAspect="1"/>
          </p:cNvPicPr>
          <p:nvPr/>
        </p:nvPicPr>
        <p:blipFill>
          <a:blip r:embed="rId3"/>
          <a:stretch>
            <a:fillRect/>
          </a:stretch>
        </p:blipFill>
        <p:spPr>
          <a:xfrm>
            <a:off x="457200" y="1554480"/>
            <a:ext cx="5200740" cy="3108960"/>
          </a:xfrm>
          <a:prstGeom prst="rect">
            <a:avLst/>
          </a:prstGeom>
        </p:spPr>
      </p:pic>
      <p:sp>
        <p:nvSpPr>
          <p:cNvPr id="6" name="TextBox 5"/>
          <p:cNvSpPr txBox="1"/>
          <p:nvPr/>
        </p:nvSpPr>
        <p:spPr>
          <a:xfrm>
            <a:off x="640080" y="4846320"/>
            <a:ext cx="10972800" cy="4663440"/>
          </a:xfrm>
          <a:prstGeom prst="rect">
            <a:avLst/>
          </a:prstGeom>
          <a:noFill/>
        </p:spPr>
        <p:txBody>
          <a:bodyPr wrap="square" anchor="t">
            <a:spAutoFit/>
          </a:bodyPr>
          <a:lstStyle/>
          <a:p>
            <a:pPr>
              <a:spcAft>
                <a:spcPts val="600"/>
              </a:spcAft>
            </a:pPr>
            <a:r>
              <a:rPr sz="1400" b="0" i="0">
                <a:solidFill>
                  <a:srgbClr val="2B2B2B"/>
                </a:solidFill>
                <a:latin typeface="Calibri"/>
              </a:rPr>
              <a:t>•  Configuration fixée (sans HyDE + reranking) ; seule la génération varie.</a:t>
            </a:r>
          </a:p>
          <a:p>
            <a:pPr>
              <a:spcAft>
                <a:spcPts val="600"/>
              </a:spcAft>
            </a:pPr>
            <a:r>
              <a:rPr sz="1400" b="0" i="0">
                <a:solidFill>
                  <a:srgbClr val="2B2B2B"/>
                </a:solidFill>
                <a:latin typeface="Calibri"/>
              </a:rPr>
              <a:t>•  mistral:7b — meilleur score moyen (0,790) et pertinence (0,835) ;</a:t>
            </a:r>
          </a:p>
          <a:p>
            <a:pPr>
              <a:spcAft>
                <a:spcPts val="600"/>
              </a:spcAft>
            </a:pPr>
            <a:r>
              <a:rPr sz="1400" b="0" i="0">
                <a:solidFill>
                  <a:srgbClr val="2B2B2B"/>
                </a:solidFill>
                <a:latin typeface="Calibri"/>
              </a:rPr>
              <a:t>•  qwen2.5:7b — meilleure fidélité (0,709), précision élevée ;</a:t>
            </a:r>
          </a:p>
          <a:p>
            <a:pPr>
              <a:spcAft>
                <a:spcPts val="600"/>
              </a:spcAft>
            </a:pPr>
            <a:r>
              <a:rPr sz="1400" b="0" i="0">
                <a:solidFill>
                  <a:srgbClr val="2B2B2B"/>
                </a:solidFill>
                <a:latin typeface="Calibri"/>
              </a:rPr>
              <a:t>•  gemma2:9b — précision retrieval élevée mais fidélité/pertinence faibles (0,757).</a:t>
            </a:r>
          </a:p>
          <a:p>
            <a:pPr>
              <a:spcAft>
                <a:spcPts val="600"/>
              </a:spcAft>
            </a:pPr>
            <a:r>
              <a:rPr sz="1400" b="0" i="0">
                <a:solidFill>
                  <a:srgbClr val="2B2B2B"/>
                </a:solidFill>
                <a:latin typeface="Calibri"/>
              </a:rPr>
              <a:t>•  Précision du contexte stable (~0,85-0,88) : pipeline de retrieval commun.</a:t>
            </a:r>
          </a:p>
        </p:txBody>
      </p:sp>
      <p:cxnSp>
        <p:nvCxnSpPr>
          <p:cNvPr id="7" name="Connector 6"/>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9" name="TextBox 8"/>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20 / 24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CHAPITRE 3 · 3.3.3</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Interprétation : tension fidélité / pertinence</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508760"/>
            <a:ext cx="10972800" cy="4663440"/>
          </a:xfrm>
          <a:prstGeom prst="rect">
            <a:avLst/>
          </a:prstGeom>
          <a:noFill/>
        </p:spPr>
        <p:txBody>
          <a:bodyPr wrap="square" anchor="t">
            <a:spAutoFit/>
          </a:bodyPr>
          <a:lstStyle/>
          <a:p>
            <a:pPr>
              <a:spcAft>
                <a:spcPts val="600"/>
              </a:spcAft>
            </a:pPr>
            <a:r>
              <a:rPr sz="1500" b="0" i="0">
                <a:solidFill>
                  <a:srgbClr val="2B2B2B"/>
                </a:solidFill>
                <a:latin typeface="Calibri"/>
              </a:rPr>
              <a:t>•  Aucun modèle ne maximise simultanément fidélité et pertinence — tension structurelle.</a:t>
            </a:r>
          </a:p>
          <a:p>
            <a:pPr lvl="1">
              <a:spcAft>
                <a:spcPts val="600"/>
              </a:spcAft>
            </a:pPr>
            <a:r>
              <a:rPr sz="1400" b="0" i="0">
                <a:solidFill>
                  <a:srgbClr val="5D6D7E"/>
                </a:solidFill>
                <a:latin typeface="Calibri"/>
              </a:rPr>
              <a:t>–  Profil conservateur — qwen2.5:7b : ancrage strict, fidélité 0,709, moins direct ;</a:t>
            </a:r>
          </a:p>
          <a:p>
            <a:pPr lvl="1">
              <a:spcAft>
                <a:spcPts val="600"/>
              </a:spcAft>
            </a:pPr>
            <a:r>
              <a:rPr sz="1400" b="0" i="0">
                <a:solidFill>
                  <a:srgbClr val="5D6D7E"/>
                </a:solidFill>
                <a:latin typeface="Calibri"/>
              </a:rPr>
              <a:t>–  Profil assertif — mistral:7b : synthèse fluide, pertinence 0,835, ancrage plus fragile.</a:t>
            </a:r>
          </a:p>
          <a:p>
            <a:pPr>
              <a:spcAft>
                <a:spcPts val="600"/>
              </a:spcAft>
            </a:pPr>
            <a:r>
              <a:rPr sz="1500" b="0" i="0">
                <a:solidFill>
                  <a:srgbClr val="2B2B2B"/>
                </a:solidFill>
                <a:latin typeface="Calibri"/>
              </a:rPr>
              <a:t>•  L'écart de fidélité (7 pts) n'est pas anodin en contexte juridique.</a:t>
            </a:r>
          </a:p>
          <a:p>
            <a:pPr>
              <a:spcAft>
                <a:spcPts val="600"/>
              </a:spcAft>
            </a:pPr>
            <a:r>
              <a:rPr sz="1500" b="0" i="0">
                <a:solidFill>
                  <a:srgbClr val="2B2B2B"/>
                </a:solidFill>
                <a:latin typeface="Calibri"/>
              </a:rPr>
              <a:t>•  Choix par profil de risque :</a:t>
            </a:r>
          </a:p>
          <a:p>
            <a:pPr lvl="1">
              <a:spcAft>
                <a:spcPts val="600"/>
              </a:spcAft>
            </a:pPr>
            <a:r>
              <a:rPr sz="1400" b="0" i="0">
                <a:solidFill>
                  <a:srgbClr val="5D6D7E"/>
                </a:solidFill>
                <a:latin typeface="Calibri"/>
              </a:rPr>
              <a:t>–  effet juridique direct (avis, conformité, instruction) → qwen2.5:7b ;</a:t>
            </a:r>
          </a:p>
          <a:p>
            <a:pPr lvl="1">
              <a:spcAft>
                <a:spcPts val="600"/>
              </a:spcAft>
            </a:pPr>
            <a:r>
              <a:rPr sz="1400" b="0" i="0">
                <a:solidFill>
                  <a:srgbClr val="5D6D7E"/>
                </a:solidFill>
                <a:latin typeface="Calibri"/>
              </a:rPr>
              <a:t>–  exploration documentaire / formation → mistral:7b.</a:t>
            </a:r>
          </a:p>
          <a:p>
            <a:pPr>
              <a:spcAft>
                <a:spcPts val="600"/>
              </a:spcAft>
            </a:pPr>
            <a:r>
              <a:rPr sz="1500" b="0" i="0">
                <a:solidFill>
                  <a:srgbClr val="2B2B2B"/>
                </a:solidFill>
                <a:latin typeface="Calibri"/>
              </a:rPr>
              <a:t>•  Modèles 7-9B locaux : scores 0,75-0,79 → H2 validée, sous arbitrage.</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21 / 24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DISCUSSION</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Validation des hypothèses et réponse à la problématique</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508760"/>
            <a:ext cx="10972800" cy="4663440"/>
          </a:xfrm>
          <a:prstGeom prst="rect">
            <a:avLst/>
          </a:prstGeom>
          <a:noFill/>
        </p:spPr>
        <p:txBody>
          <a:bodyPr wrap="square" anchor="t">
            <a:spAutoFit/>
          </a:bodyPr>
          <a:lstStyle/>
          <a:p>
            <a:pPr>
              <a:spcAft>
                <a:spcPts val="600"/>
              </a:spcAft>
            </a:pPr>
            <a:r>
              <a:rPr sz="1600" b="0" i="0">
                <a:solidFill>
                  <a:srgbClr val="2B2B2B"/>
                </a:solidFill>
                <a:latin typeface="Calibri"/>
              </a:rPr>
              <a:t>•  H1 — validée partiellement : le reranking améliore les performances (précision +5-8 pts) ; HyDE seul les dégrade. Config optimale = sans HyDE + reranking.</a:t>
            </a:r>
          </a:p>
          <a:p>
            <a:pPr>
              <a:spcAft>
                <a:spcPts val="600"/>
              </a:spcAft>
            </a:pPr>
            <a:r>
              <a:rPr sz="1600" b="0" i="0">
                <a:solidFill>
                  <a:srgbClr val="2B2B2B"/>
                </a:solidFill>
                <a:latin typeface="Calibri"/>
              </a:rPr>
              <a:t>•  H2 — validée : des modèles open-source locaux atteignent un niveau exploitable, sous arbitrage fidélité / pertinence selon l'usage.</a:t>
            </a:r>
          </a:p>
          <a:p>
            <a:pPr>
              <a:spcAft>
                <a:spcPts val="600"/>
              </a:spcAft>
            </a:pPr>
            <a:r>
              <a:rPr sz="1600" b="0" i="0">
                <a:solidFill>
                  <a:srgbClr val="2B2B2B"/>
                </a:solidFill>
                <a:latin typeface="Calibri"/>
              </a:rPr>
              <a:t>•  Réponse à la problématique :</a:t>
            </a:r>
          </a:p>
          <a:p>
            <a:pPr lvl="1">
              <a:spcAft>
                <a:spcPts val="600"/>
              </a:spcAft>
            </a:pPr>
            <a:r>
              <a:rPr sz="1500" b="0" i="0">
                <a:solidFill>
                  <a:srgbClr val="5D6D7E"/>
                </a:solidFill>
                <a:latin typeface="Calibri"/>
              </a:rPr>
              <a:t>–  oui, une architecture RAG souveraine assure une capitalisation fiable et une restitution sourcée (breadcrumbs) de la mémoire institutionnelle ;</a:t>
            </a:r>
          </a:p>
          <a:p>
            <a:pPr lvl="1">
              <a:spcAft>
                <a:spcPts val="600"/>
              </a:spcAft>
            </a:pPr>
            <a:r>
              <a:rPr sz="1500" b="0" i="0">
                <a:solidFill>
                  <a:srgbClr val="5D6D7E"/>
                </a:solidFill>
                <a:latin typeface="Calibri"/>
              </a:rPr>
              <a:t>–  la fidélité est maîtrisée par le choix de modèle ; l'exécution est 100 % locale.</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22 / 24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DISCUSSION</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Implications pour le déploiement au FART</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508760"/>
            <a:ext cx="10972800" cy="4663440"/>
          </a:xfrm>
          <a:prstGeom prst="rect">
            <a:avLst/>
          </a:prstGeom>
          <a:noFill/>
        </p:spPr>
        <p:txBody>
          <a:bodyPr wrap="square" anchor="t">
            <a:spAutoFit/>
          </a:bodyPr>
          <a:lstStyle/>
          <a:p>
            <a:pPr>
              <a:spcAft>
                <a:spcPts val="600"/>
              </a:spcAft>
            </a:pPr>
            <a:r>
              <a:rPr sz="1500" b="0" i="0">
                <a:solidFill>
                  <a:srgbClr val="2B2B2B"/>
                </a:solidFill>
                <a:latin typeface="Calibri"/>
              </a:rPr>
              <a:t>•  Souveraineté : aucun appel cloud en production — PostgreSQL+pgvector, Ollama (GPU 8 Go), cross-encoder sur CPU ; seule l'évaluation RAGAS sollicite gpt-4o-mini.</a:t>
            </a:r>
          </a:p>
          <a:p>
            <a:pPr>
              <a:spcAft>
                <a:spcPts val="600"/>
              </a:spcAft>
            </a:pPr>
            <a:r>
              <a:rPr sz="1500" b="0" i="0">
                <a:solidFill>
                  <a:srgbClr val="2B2B2B"/>
                </a:solidFill>
                <a:latin typeface="Calibri"/>
              </a:rPr>
              <a:t>•  Choix de modèle de référence par profil de risque (qwen pour l'effet juridique direct).</a:t>
            </a:r>
          </a:p>
          <a:p>
            <a:pPr>
              <a:spcAft>
                <a:spcPts val="600"/>
              </a:spcAft>
            </a:pPr>
            <a:r>
              <a:rPr sz="1500" b="0" i="0">
                <a:solidFill>
                  <a:srgbClr val="2B2B2B"/>
                </a:solidFill>
                <a:latin typeface="Calibri"/>
              </a:rPr>
              <a:t>•  Transposition du BO (corpus de substitution) au corpus interne du FART :</a:t>
            </a:r>
          </a:p>
          <a:p>
            <a:pPr lvl="1">
              <a:spcAft>
                <a:spcPts val="600"/>
              </a:spcAft>
            </a:pPr>
            <a:r>
              <a:rPr sz="1400" b="0" i="0">
                <a:solidFill>
                  <a:srgbClr val="5D6D7E"/>
                </a:solidFill>
                <a:latin typeface="Calibri"/>
              </a:rPr>
              <a:t>–  composants transposables : bge-m3, ms-marco, génération, RAGAS ;</a:t>
            </a:r>
          </a:p>
          <a:p>
            <a:pPr lvl="1">
              <a:spcAft>
                <a:spcPts val="600"/>
              </a:spcAft>
            </a:pPr>
            <a:r>
              <a:rPr sz="1400" b="0" i="0">
                <a:solidFill>
                  <a:srgbClr val="5D6D7E"/>
                </a:solidFill>
                <a:latin typeface="Calibri"/>
              </a:rPr>
              <a:t>–  deux écarts à combler : adapter le splitter à la terminologie FART, reconstruire le jeu de test interne ;</a:t>
            </a:r>
          </a:p>
          <a:p>
            <a:pPr lvl="1">
              <a:spcAft>
                <a:spcPts val="600"/>
              </a:spcAft>
            </a:pPr>
            <a:r>
              <a:rPr sz="1400" b="0" i="0">
                <a:solidFill>
                  <a:srgbClr val="5D6D7E"/>
                </a:solidFill>
                <a:latin typeface="Calibri"/>
              </a:rPr>
              <a:t>–  effort estimé : une mission de l'ordre de 4 à 6 mois. [à confirmer]</a:t>
            </a:r>
          </a:p>
        </p:txBody>
      </p:sp>
      <p:cxnSp>
        <p:nvCxnSpPr>
          <p:cNvPr id="6" name="Connector 5"/>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8" name="TextBox 7"/>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23 / 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92608"/>
            <a:ext cx="10972800" cy="292608"/>
          </a:xfrm>
          <a:prstGeom prst="rect">
            <a:avLst/>
          </a:prstGeom>
          <a:noFill/>
        </p:spPr>
        <p:txBody>
          <a:bodyPr wrap="square" anchor="t">
            <a:spAutoFit/>
          </a:bodyPr>
          <a:lstStyle/>
          <a:p>
            <a:r>
              <a:rPr sz="1200" b="1" i="0">
                <a:solidFill>
                  <a:srgbClr val="5D6D7E"/>
                </a:solidFill>
                <a:latin typeface="Calibri"/>
              </a:rPr>
              <a:t>CONCLUSION GÉNÉRALE</a:t>
            </a:r>
          </a:p>
        </p:txBody>
      </p:sp>
      <p:sp>
        <p:nvSpPr>
          <p:cNvPr id="3" name="TextBox 2"/>
          <p:cNvSpPr txBox="1"/>
          <p:nvPr/>
        </p:nvSpPr>
        <p:spPr>
          <a:xfrm>
            <a:off x="640080" y="585216"/>
            <a:ext cx="10972800" cy="640080"/>
          </a:xfrm>
          <a:prstGeom prst="rect">
            <a:avLst/>
          </a:prstGeom>
          <a:noFill/>
        </p:spPr>
        <p:txBody>
          <a:bodyPr wrap="square" anchor="t">
            <a:spAutoFit/>
          </a:bodyPr>
          <a:lstStyle/>
          <a:p>
            <a:r>
              <a:rPr sz="2400" b="1" i="0">
                <a:solidFill>
                  <a:srgbClr val="1B2A4A"/>
                </a:solidFill>
                <a:latin typeface="Georgia"/>
              </a:rPr>
              <a:t>Contributions, limites et perspectives</a:t>
            </a:r>
          </a:p>
        </p:txBody>
      </p:sp>
      <p:cxnSp>
        <p:nvCxnSpPr>
          <p:cNvPr id="4" name="Connector 3"/>
          <p:cNvCxnSpPr/>
          <p:nvPr/>
        </p:nvCxnSpPr>
        <p:spPr>
          <a:xfrm>
            <a:off x="640080" y="1261872"/>
            <a:ext cx="10908792" cy="0"/>
          </a:xfrm>
          <a:prstGeom prst="bentConnector3">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508760"/>
            <a:ext cx="10972800" cy="3931920"/>
          </a:xfrm>
          <a:prstGeom prst="rect">
            <a:avLst/>
          </a:prstGeom>
          <a:noFill/>
        </p:spPr>
        <p:txBody>
          <a:bodyPr wrap="square" anchor="t">
            <a:spAutoFit/>
          </a:bodyPr>
          <a:lstStyle/>
          <a:p>
            <a:pPr>
              <a:spcAft>
                <a:spcPts val="600"/>
              </a:spcAft>
            </a:pPr>
            <a:r>
              <a:rPr sz="1500" b="0" i="0">
                <a:solidFill>
                  <a:srgbClr val="2B2B2B"/>
                </a:solidFill>
                <a:latin typeface="Calibri"/>
              </a:rPr>
              <a:t>•  Contributions : pipeline RAG souverain de bout en bout, splitter juridique, étude d'ablation HyDE/reranking, protocole d'évaluation RAGAS contrôlé.</a:t>
            </a:r>
          </a:p>
          <a:p>
            <a:pPr>
              <a:spcAft>
                <a:spcPts val="600"/>
              </a:spcAft>
            </a:pPr>
            <a:r>
              <a:rPr sz="1500" b="0" i="0">
                <a:solidFill>
                  <a:srgbClr val="2B2B2B"/>
                </a:solidFill>
                <a:latin typeface="Calibri"/>
              </a:rPr>
              <a:t>•  Limites : monolingue français ; 79 questions sur 3 domaines ; 3 modèles 7-9B ; juge externe gpt-4o-mini.</a:t>
            </a:r>
          </a:p>
          <a:p>
            <a:pPr>
              <a:spcAft>
                <a:spcPts val="600"/>
              </a:spcAft>
            </a:pPr>
            <a:r>
              <a:rPr sz="1500" b="0" i="0">
                <a:solidFill>
                  <a:srgbClr val="2B2B2B"/>
                </a:solidFill>
                <a:latin typeface="Calibri"/>
              </a:rPr>
              <a:t>•  Perspectives :</a:t>
            </a:r>
          </a:p>
          <a:p>
            <a:pPr lvl="1">
              <a:spcAft>
                <a:spcPts val="600"/>
              </a:spcAft>
            </a:pPr>
            <a:r>
              <a:rPr sz="1400" b="0" i="0">
                <a:solidFill>
                  <a:srgbClr val="5D6D7E"/>
                </a:solidFill>
                <a:latin typeface="Calibri"/>
              </a:rPr>
              <a:t>–  fine-tuning d'un modèle sur corpus juridique marocain (fidélité + registre HyDE) ;</a:t>
            </a:r>
          </a:p>
          <a:p>
            <a:pPr lvl="1">
              <a:spcAft>
                <a:spcPts val="600"/>
              </a:spcAft>
            </a:pPr>
            <a:r>
              <a:rPr sz="1400" b="0" i="0">
                <a:solidFill>
                  <a:srgbClr val="5D6D7E"/>
                </a:solidFill>
                <a:latin typeface="Calibri"/>
              </a:rPr>
              <a:t>–  extension bilingue français-arabe, facilitée par bge-m3 ;</a:t>
            </a:r>
          </a:p>
          <a:p>
            <a:pPr lvl="1">
              <a:spcAft>
                <a:spcPts val="600"/>
              </a:spcAft>
            </a:pPr>
            <a:r>
              <a:rPr sz="1400" b="0" i="0">
                <a:solidFill>
                  <a:srgbClr val="5D6D7E"/>
                </a:solidFill>
                <a:latin typeface="Calibri"/>
              </a:rPr>
              <a:t>–  déploiement effectif au FART ; réévaluation des modèles à 12-18 mois.</a:t>
            </a:r>
          </a:p>
        </p:txBody>
      </p:sp>
      <p:sp>
        <p:nvSpPr>
          <p:cNvPr id="6" name="TextBox 5"/>
          <p:cNvSpPr txBox="1"/>
          <p:nvPr/>
        </p:nvSpPr>
        <p:spPr>
          <a:xfrm>
            <a:off x="640080" y="5669280"/>
            <a:ext cx="10881360" cy="548640"/>
          </a:xfrm>
          <a:prstGeom prst="rect">
            <a:avLst/>
          </a:prstGeom>
          <a:noFill/>
        </p:spPr>
        <p:txBody>
          <a:bodyPr wrap="square" anchor="t">
            <a:spAutoFit/>
          </a:bodyPr>
          <a:lstStyle/>
          <a:p>
            <a:pPr algn="ctr"/>
            <a:r>
              <a:rPr sz="1600" b="1" i="0">
                <a:solidFill>
                  <a:srgbClr val="1B2A4A"/>
                </a:solidFill>
                <a:latin typeface="Georgia"/>
              </a:rPr>
              <a:t>Merci de votre attention — je suis à votre disposition pour vos questions.</a:t>
            </a:r>
          </a:p>
        </p:txBody>
      </p:sp>
      <p:cxnSp>
        <p:nvCxnSpPr>
          <p:cNvPr id="7" name="Connector 6"/>
          <p:cNvCxnSpPr/>
          <p:nvPr/>
        </p:nvCxnSpPr>
        <p:spPr>
          <a:xfrm>
            <a:off x="640080" y="6446520"/>
            <a:ext cx="10908792" cy="0"/>
          </a:xfrm>
          <a:prstGeom prst="bentConnector3">
            <a:avLst/>
          </a:prstGeom>
          <a:ln w="9525">
            <a:solidFill>
              <a:srgbClr val="B5BEC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473952"/>
            <a:ext cx="8229600" cy="320040"/>
          </a:xfrm>
          <a:prstGeom prst="rect">
            <a:avLst/>
          </a:prstGeom>
          <a:noFill/>
        </p:spPr>
        <p:txBody>
          <a:bodyPr wrap="square" anchor="t">
            <a:spAutoFit/>
          </a:bodyPr>
          <a:lstStyle/>
          <a:p>
            <a:r>
              <a:rPr sz="900" b="0" i="0">
                <a:solidFill>
                  <a:srgbClr val="5D6D7E"/>
                </a:solidFill>
                <a:latin typeface="Calibri"/>
              </a:rPr>
              <a:t>M. Ennagi — Soutenance de Thèse Professionnelle · Juin 2026</a:t>
            </a:r>
          </a:p>
        </p:txBody>
      </p:sp>
      <p:sp>
        <p:nvSpPr>
          <p:cNvPr id="9" name="TextBox 8"/>
          <p:cNvSpPr txBox="1"/>
          <p:nvPr/>
        </p:nvSpPr>
        <p:spPr>
          <a:xfrm>
            <a:off x="10515600" y="6473952"/>
            <a:ext cx="1033271" cy="320040"/>
          </a:xfrm>
          <a:prstGeom prst="rect">
            <a:avLst/>
          </a:prstGeom>
          <a:noFill/>
        </p:spPr>
        <p:txBody>
          <a:bodyPr wrap="square" anchor="t">
            <a:spAutoFit/>
          </a:bodyPr>
          <a:lstStyle/>
          <a:p>
            <a:pPr algn="r"/>
            <a:r>
              <a:rPr sz="900" b="0" i="0">
                <a:solidFill>
                  <a:srgbClr val="5D6D7E"/>
                </a:solidFill>
                <a:latin typeface="Calibri"/>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837</TotalTime>
  <Words>4349</Words>
  <Application>Microsoft Office PowerPoint</Application>
  <PresentationFormat>Grand écran</PresentationFormat>
  <Paragraphs>329</Paragraphs>
  <Slides>24</Slides>
  <Notes>24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24</vt:i4>
      </vt:variant>
    </vt:vector>
  </HeadingPairs>
  <TitlesOfParts>
    <vt:vector size="29" baseType="lpstr">
      <vt:lpstr>Arial</vt:lpstr>
      <vt:lpstr>Calibri</vt:lpstr>
      <vt:lpstr>Consolas</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moad ennagi</cp:lastModifiedBy>
  <cp:revision>2</cp:revision>
  <dcterms:created xsi:type="dcterms:W3CDTF">2013-01-27T09:14:16Z</dcterms:created>
  <dcterms:modified xsi:type="dcterms:W3CDTF">2026-06-30T08:57:51Z</dcterms:modified>
  <cp:category/>
</cp:coreProperties>
</file>